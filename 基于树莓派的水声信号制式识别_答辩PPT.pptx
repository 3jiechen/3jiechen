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640080"/>
            <a:ext cx="822960" cy="822960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6035040"/>
            <a:ext cx="1645920" cy="1645920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91840" y="3840480"/>
            <a:ext cx="548640" cy="548640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2560320"/>
            <a:ext cx="164592" cy="228600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XIAMEN 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厦  门  大  学  ·  信  息  学  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371600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本科毕业论文答辩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73152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40"/>
            <a:ext cx="73152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4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水声信号制式识别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703320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Underwater Acoustic Modulation Recognition Based on Raspberry 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160520"/>
            <a:ext cx="1463040" cy="2540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8686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答 辩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526280"/>
            <a:ext cx="14630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陈   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526280"/>
            <a:ext cx="8686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学      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526280"/>
            <a:ext cx="14630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37120222203280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873752"/>
            <a:ext cx="8686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专      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873752"/>
            <a:ext cx="14630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通 信 工 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873752"/>
            <a:ext cx="8686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年      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873752"/>
            <a:ext cx="14630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2022 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221224"/>
            <a:ext cx="8686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指导老师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221224"/>
            <a:ext cx="14630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苏 为 教授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221224"/>
            <a:ext cx="86868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日      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221224"/>
            <a:ext cx="14630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2026 年 5 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6400800"/>
            <a:ext cx="7985455" cy="4572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6400800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THESIS  DEFENSE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728" cy="1554480"/>
          </a:xfrm>
          <a:prstGeom prst="roundRect">
            <a:avLst>
              <a:gd name="adj" fmla="val 3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97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103120"/>
            <a:ext cx="22860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9748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Research Background &amp; Significance</a:t>
            </a:r>
          </a:p>
        </p:txBody>
      </p:sp>
      <p:sp>
        <p:nvSpPr>
          <p:cNvPr id="11" name="Oval 10"/>
          <p:cNvSpPr/>
          <p:nvPr/>
        </p:nvSpPr>
        <p:spPr>
          <a:xfrm>
            <a:off x="1783080" y="3063240"/>
            <a:ext cx="73152" cy="73152"/>
          </a:xfrm>
          <a:prstGeom prst="ellipse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47672" y="3063240"/>
            <a:ext cx="73152" cy="73152"/>
          </a:xfrm>
          <a:prstGeom prst="ellipse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12264" y="3063240"/>
            <a:ext cx="73152" cy="73152"/>
          </a:xfrm>
          <a:prstGeom prst="ellipse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92024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920240"/>
            <a:ext cx="109728" cy="1554480"/>
          </a:xfrm>
          <a:prstGeom prst="roundRect">
            <a:avLst>
              <a:gd name="adj" fmla="val 3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57400"/>
            <a:ext cx="1097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103120"/>
            <a:ext cx="22860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69748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Research Objectives &amp; Contents</a:t>
            </a:r>
          </a:p>
        </p:txBody>
      </p:sp>
      <p:sp>
        <p:nvSpPr>
          <p:cNvPr id="19" name="Oval 18"/>
          <p:cNvSpPr/>
          <p:nvPr/>
        </p:nvSpPr>
        <p:spPr>
          <a:xfrm>
            <a:off x="5532120" y="3063240"/>
            <a:ext cx="73152" cy="73152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96712" y="3063240"/>
            <a:ext cx="73152" cy="73152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61304" y="3063240"/>
            <a:ext cx="73152" cy="73152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192024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920240"/>
            <a:ext cx="109728" cy="1554480"/>
          </a:xfrm>
          <a:prstGeom prst="roundRect">
            <a:avLst>
              <a:gd name="adj" fmla="val 30000"/>
            </a:avLst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057400"/>
            <a:ext cx="1097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03120"/>
            <a:ext cx="22860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项目原理分析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69748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Principle Analysis</a:t>
            </a:r>
          </a:p>
        </p:txBody>
      </p:sp>
      <p:sp>
        <p:nvSpPr>
          <p:cNvPr id="27" name="Oval 26"/>
          <p:cNvSpPr/>
          <p:nvPr/>
        </p:nvSpPr>
        <p:spPr>
          <a:xfrm>
            <a:off x="9281160" y="3063240"/>
            <a:ext cx="73152" cy="73152"/>
          </a:xfrm>
          <a:prstGeom prst="ellipse">
            <a:avLst/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45752" y="3063240"/>
            <a:ext cx="73152" cy="73152"/>
          </a:xfrm>
          <a:prstGeom prst="ellipse">
            <a:avLst/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10344" y="3063240"/>
            <a:ext cx="73152" cy="73152"/>
          </a:xfrm>
          <a:prstGeom prst="ellipse">
            <a:avLst/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37033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3703320"/>
            <a:ext cx="109728" cy="1554480"/>
          </a:xfrm>
          <a:prstGeom prst="roundRect">
            <a:avLst>
              <a:gd name="adj" fmla="val 30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840480"/>
            <a:ext cx="1097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12B0B9"/>
                </a:solidFill>
                <a:latin typeface="Calibri"/>
                <a:eastAsia typeface="Calibri"/>
                <a:cs typeface="Calibri"/>
                <a:ascii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3886200"/>
            <a:ext cx="22860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项目方案设计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448056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System Design</a:t>
            </a:r>
          </a:p>
        </p:txBody>
      </p:sp>
      <p:sp>
        <p:nvSpPr>
          <p:cNvPr id="35" name="Oval 34"/>
          <p:cNvSpPr/>
          <p:nvPr/>
        </p:nvSpPr>
        <p:spPr>
          <a:xfrm>
            <a:off x="1783080" y="4846320"/>
            <a:ext cx="73152" cy="73152"/>
          </a:xfrm>
          <a:prstGeom prst="ellipse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947672" y="4846320"/>
            <a:ext cx="73152" cy="73152"/>
          </a:xfrm>
          <a:prstGeom prst="ellipse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112264" y="4846320"/>
            <a:ext cx="73152" cy="73152"/>
          </a:xfrm>
          <a:prstGeom prst="ellipse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89120" y="37033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89120" y="3703320"/>
            <a:ext cx="109728" cy="1554480"/>
          </a:xfrm>
          <a:prstGeom prst="roundRect">
            <a:avLst>
              <a:gd name="adj" fmla="val 3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3840480"/>
            <a:ext cx="1097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B703"/>
                </a:solidFill>
                <a:latin typeface="Calibri"/>
                <a:eastAsia typeface="Calibri"/>
                <a:cs typeface="Calibri"/>
                <a:ascii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886200"/>
            <a:ext cx="22860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研究结果与应用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448056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Results &amp; Applications</a:t>
            </a:r>
          </a:p>
        </p:txBody>
      </p:sp>
      <p:sp>
        <p:nvSpPr>
          <p:cNvPr id="43" name="Oval 42"/>
          <p:cNvSpPr/>
          <p:nvPr/>
        </p:nvSpPr>
        <p:spPr>
          <a:xfrm>
            <a:off x="5532120" y="4846320"/>
            <a:ext cx="73152" cy="73152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96712" y="4846320"/>
            <a:ext cx="73152" cy="73152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861304" y="4846320"/>
            <a:ext cx="73152" cy="73152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38160" y="37033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38160" y="3703320"/>
            <a:ext cx="109728" cy="1554480"/>
          </a:xfrm>
          <a:prstGeom prst="roundRect">
            <a:avLst>
              <a:gd name="adj" fmla="val 30000"/>
            </a:avLst>
          </a:prstGeom>
          <a:solidFill>
            <a:srgbClr val="2A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3840480"/>
            <a:ext cx="10972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2AB77E"/>
                </a:solidFill>
                <a:latin typeface="Calibri"/>
                <a:eastAsia typeface="Calibri"/>
                <a:cs typeface="Calibri"/>
                <a:ascii typeface="Calibr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3886200"/>
            <a:ext cx="22860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总结与展望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48056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Conclusion &amp; Future Work</a:t>
            </a:r>
          </a:p>
        </p:txBody>
      </p:sp>
      <p:sp>
        <p:nvSpPr>
          <p:cNvPr id="51" name="Oval 50"/>
          <p:cNvSpPr/>
          <p:nvPr/>
        </p:nvSpPr>
        <p:spPr>
          <a:xfrm>
            <a:off x="9281160" y="4846320"/>
            <a:ext cx="73152" cy="73152"/>
          </a:xfrm>
          <a:prstGeom prst="ellipse">
            <a:avLst/>
          </a:prstGeom>
          <a:solidFill>
            <a:srgbClr val="2A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445752" y="4846320"/>
            <a:ext cx="73152" cy="73152"/>
          </a:xfrm>
          <a:prstGeom prst="ellipse">
            <a:avLst/>
          </a:prstGeom>
          <a:solidFill>
            <a:srgbClr val="2A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610344" y="4846320"/>
            <a:ext cx="73152" cy="73152"/>
          </a:xfrm>
          <a:prstGeom prst="ellipse">
            <a:avLst/>
          </a:prstGeom>
          <a:solidFill>
            <a:srgbClr val="2A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57200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926080"/>
            <a:ext cx="164592" cy="118872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834640"/>
            <a:ext cx="640080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研究背景与意义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703320"/>
            <a:ext cx="6400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Research Background &amp; Significance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6217920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—  THESIS  DEFENSE  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01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研究背景与意义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4754880" cy="5029200"/>
          </a:xfrm>
          <a:prstGeom prst="roundRect">
            <a:avLst>
              <a:gd name="adj" fmla="val 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43891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WHY  UNDERWATER  ACOUSTIC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3891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为何关注水声调制识别？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4389120" cy="3611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海洋经济持续增长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水下通信 / 目标探测 / 海洋监测等场景需求显著上升，调制识别是水声频谱监测与信号解调的基础环节。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水声信道更复杂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传播速度慢、带宽受限、传播衰减明显、强多径与时延扩展，并存在海洋环境噪声与舰船自噪声等多源干扰。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低 SNR 下识别困难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接收信号信噪比低、非平稳性强、频谱结构畸变，使同一调制制式在不同条件下呈现明显差异。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深度学习提供新思路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可从波形/时频谱图端到端学习判别特征，降低对人工特征工程的依赖。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143000"/>
            <a:ext cx="6675120" cy="2286000"/>
          </a:xfrm>
          <a:prstGeom prst="roundRect">
            <a:avLst>
              <a:gd name="adj" fmla="val 5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371600"/>
            <a:ext cx="6126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本文研究路线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828800"/>
            <a:ext cx="6126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RESEARCH 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423160"/>
            <a:ext cx="1133856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423160"/>
            <a:ext cx="1133856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数据预处理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58584" y="2670048"/>
            <a:ext cx="146304" cy="182880"/>
          </a:xfrm>
          <a:prstGeom prst="rightArrow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77456" y="2423160"/>
            <a:ext cx="1133856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7456" y="2423160"/>
            <a:ext cx="1133856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多特征构建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183880" y="2670048"/>
            <a:ext cx="146304" cy="182880"/>
          </a:xfrm>
          <a:prstGeom prst="rightArrow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02752" y="2423160"/>
            <a:ext cx="1133856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423160"/>
            <a:ext cx="1133856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融合网络训练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09176" y="2670048"/>
            <a:ext cx="146304" cy="182880"/>
          </a:xfrm>
          <a:prstGeom prst="rightArrow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28048" y="2423160"/>
            <a:ext cx="1133856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2423160"/>
            <a:ext cx="1133856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鲁棒性评估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634472" y="2670048"/>
            <a:ext cx="146304" cy="182880"/>
          </a:xfrm>
          <a:prstGeom prst="rightArrow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753344" y="2423160"/>
            <a:ext cx="1133856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53344" y="2423160"/>
            <a:ext cx="1133856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ONNX 部署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3611880"/>
            <a:ext cx="667512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3794760"/>
            <a:ext cx="6126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关键技术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251960"/>
            <a:ext cx="6126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KEY  TECHNIQUES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4800600"/>
            <a:ext cx="1280160" cy="640080"/>
          </a:xfrm>
          <a:prstGeom prst="roundRect">
            <a:avLst>
              <a:gd name="adj" fmla="val 3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4800600"/>
            <a:ext cx="12801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Bi-LSTM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80060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时域序列长时依赖建模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4800600"/>
            <a:ext cx="1280160" cy="640080"/>
          </a:xfrm>
          <a:prstGeom prst="roundRect">
            <a:avLst>
              <a:gd name="adj" fmla="val 3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800600"/>
            <a:ext cx="12801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ResNet-18*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80060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谱图局部纹理特征提取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6440" y="5577840"/>
            <a:ext cx="1280160" cy="640080"/>
          </a:xfrm>
          <a:prstGeom prst="roundRect">
            <a:avLst>
              <a:gd name="adj" fmla="val 30000"/>
            </a:avLst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5577840"/>
            <a:ext cx="12801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双通道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57784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幅值 + 相位联合时频表示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5577840"/>
            <a:ext cx="1280160" cy="640080"/>
          </a:xfrm>
          <a:prstGeom prst="roundRect">
            <a:avLst>
              <a:gd name="adj" fmla="val 3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5577840"/>
            <a:ext cx="12801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ONNX + 树莓派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557784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跨平台轻量化端侧推理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研究意义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01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研究背景与意义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VALUE  PROPOSITION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建模 · 评测 · 落地  三位一体的研究价值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48640" cy="411480"/>
          </a:xfrm>
          <a:prstGeom prst="roundRect">
            <a:avLst>
              <a:gd name="adj" fmla="val 4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486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65960"/>
            <a:ext cx="25603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应用牵引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3017520" cy="1325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海洋监测 / 目标探测 / 水下通信等业务需要可靠的调制认知能力。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2024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1783080"/>
            <a:ext cx="548640" cy="411480"/>
          </a:xfrm>
          <a:prstGeom prst="roundRect">
            <a:avLst>
              <a:gd name="adj" fmla="val 4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83080"/>
            <a:ext cx="5486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965960"/>
            <a:ext cx="25603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课题切入点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606040"/>
            <a:ext cx="3017520" cy="1325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端到端深度学习 + 波形 / 时频互补融合 + 嵌入式原型验证。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92024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23960" y="1783080"/>
            <a:ext cx="548640" cy="411480"/>
          </a:xfrm>
          <a:prstGeom prst="roundRect">
            <a:avLst>
              <a:gd name="adj" fmla="val 40000"/>
            </a:avLst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783080"/>
            <a:ext cx="5486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965960"/>
            <a:ext cx="25603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瓶颈对照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606040"/>
            <a:ext cx="3017520" cy="1325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手工特征依赖经验，低 SNR、非平稳噪声下可分性变差。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9768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160520"/>
            <a:ext cx="548640" cy="411480"/>
          </a:xfrm>
          <a:prstGeom prst="roundRect">
            <a:avLst>
              <a:gd name="adj" fmla="val 40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160520"/>
            <a:ext cx="5486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43400"/>
            <a:ext cx="25603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互补建模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83480"/>
            <a:ext cx="3017520" cy="1325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Bi-LSTM 建模序列动态；ResNet 抽取谱图纹理；融合输出类别概率。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429768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54880" y="4160520"/>
            <a:ext cx="548640" cy="411480"/>
          </a:xfrm>
          <a:prstGeom prst="roundRect">
            <a:avLst>
              <a:gd name="adj" fmla="val 4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160520"/>
            <a:ext cx="5486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4343400"/>
            <a:ext cx="25603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鲁棒评测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983480"/>
            <a:ext cx="3017520" cy="1325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测试集叠加 AWGN，SNR −10 ~ 10 dB（步长 2 dB）评估噪声敏感性。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429768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23960" y="4160520"/>
            <a:ext cx="548640" cy="411480"/>
          </a:xfrm>
          <a:prstGeom prst="roundRect">
            <a:avLst>
              <a:gd name="adj" fmla="val 40000"/>
            </a:avLst>
          </a:prstGeom>
          <a:solidFill>
            <a:srgbClr val="2A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4160520"/>
            <a:ext cx="5486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343400"/>
            <a:ext cx="25603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工程闭环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983480"/>
            <a:ext cx="3017520" cy="1325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导出 ONNX；树莓派 ONNX Runtime 推理；Tk 展示波形与识别结果。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57200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926080"/>
            <a:ext cx="164592" cy="118872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834640"/>
            <a:ext cx="640080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703320"/>
            <a:ext cx="6400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Research Objectives &amp; Contents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6217920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—  THESIS  DEFENSE  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主要研究内容总览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02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围绕“数据 → 特征 → 模型 → 评测 → 部署”五个环节，构建完整识别流程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794760" cy="228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508760"/>
            <a:ext cx="2880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数据集与预处理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333756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9 类调制：2/4/8 FSK、2/4/8 PSK、16/64 QAM、64 OFDM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统一为 4096 点 · 零均值 / 单位方差归一化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训练 / 验证 / 独立测试集划分，固定随机种子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50876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6552" y="150876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1737360"/>
            <a:ext cx="3794760" cy="228600"/>
          </a:xfrm>
          <a:prstGeom prst="rect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5087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1508760"/>
            <a:ext cx="2880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多特征构建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103120"/>
            <a:ext cx="333756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时域分支：1D 标准化波形序列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时频分支：STFT 幅值 + 相位双通道谱图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谱图与训练阶段归一化保持一致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4" y="150876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30184" y="150876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0184" y="1737360"/>
            <a:ext cx="3794760" cy="228600"/>
          </a:xfrm>
          <a:prstGeom prst="rect">
            <a:avLst/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4" y="150876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1508760"/>
            <a:ext cx="2880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融合网络设计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2103120"/>
            <a:ext cx="333756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时域：双向 LSTM 提取长时依赖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频域：改造首层卷积的 ResNet-18 (2 通道输入)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特征层拼接 + 全连接 9 类 Softmax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93192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93192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160520"/>
            <a:ext cx="3794760" cy="228600"/>
          </a:xfrm>
          <a:prstGeom prst="rect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93192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931920"/>
            <a:ext cx="2880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鲁棒性评测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26280"/>
            <a:ext cx="333756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测试集叠加 AWGN，SNR −10 ~ 10 dB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RNN / TinyCNN / ResNet / CNN+RNN / ResNet+RNN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整体准确率 + SNR-准确率曲线 + 混淆矩阵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16552" y="393192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16552" y="393192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16552" y="4160520"/>
            <a:ext cx="3794760" cy="22860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2" y="393192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9512" y="3931920"/>
            <a:ext cx="2880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树莓派 ONNX 部署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4526280"/>
            <a:ext cx="333756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B70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训练模型导出 ONNX，跨平台兼容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B70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树莓派 ONNX Runtime 端侧推理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B70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保持与训练端一致的预处理流程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0184" y="393192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30184" y="393192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2A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30184" y="4160520"/>
            <a:ext cx="3794760" cy="228600"/>
          </a:xfrm>
          <a:prstGeom prst="rect">
            <a:avLst/>
          </a:prstGeom>
          <a:solidFill>
            <a:srgbClr val="2A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13064" y="3931920"/>
            <a:ext cx="7315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3144" y="3931920"/>
            <a:ext cx="2880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可视化交互界面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58784" y="4526280"/>
            <a:ext cx="333756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AB77E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 Tk 的图形界面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AB77E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实时显示输入波形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AB77E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输出识别类别与置信度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数据集与类别映射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02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DATASET  &amp; 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9 类水声调制信号 · 4096 点固定窗口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486400" cy="4114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◆  </a:t>
            </a:r>
            <a:r>
              <a:rPr sz="13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数据集以 MAT 文件存储，依文件编号建立类别映射；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◆  </a:t>
            </a:r>
            <a:r>
              <a:rPr sz="13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训练集 / 验证集 / 独立测试集划分，固定随机种子保证可复现；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◆  </a:t>
            </a:r>
            <a:r>
              <a:rPr sz="13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评估阶段在测试集上叠加 AWGN：SNR −10 ~ 10 dB，步长 2 dB，共 11 个测试点；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◆  </a:t>
            </a:r>
            <a:r>
              <a:rPr sz="13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评价指标：整体分类准确率、SNR-准确率曲线、混淆矩阵；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FFB70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◆  </a:t>
            </a:r>
            <a:r>
              <a:rPr sz="13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提供模型在可控噪声条件下的鲁棒性参考。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806440" cy="5349240"/>
          </a:xfrm>
          <a:prstGeom prst="roundRect">
            <a:avLst>
              <a:gd name="adj" fmla="val 4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5257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表 3-1  数据集类别标签映射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5257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CLASS  MAPPING  ·  9  MODULATION 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240280"/>
            <a:ext cx="5257800" cy="411480"/>
          </a:xfrm>
          <a:prstGeom prst="roundRect">
            <a:avLst>
              <a:gd name="adj" fmla="val 3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946404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标签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1524" y="2240280"/>
            <a:ext cx="2208276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调制方式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240280"/>
            <a:ext cx="21031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信号家族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724912"/>
            <a:ext cx="52578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724912"/>
            <a:ext cx="946404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1524" y="2724912"/>
            <a:ext cx="220827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2FSK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724912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FSK 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108960"/>
            <a:ext cx="5257800" cy="384048"/>
          </a:xfrm>
          <a:prstGeom prst="roundRect">
            <a:avLst>
              <a:gd name="adj" fmla="val 1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108960"/>
            <a:ext cx="946404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1524" y="3108960"/>
            <a:ext cx="220827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4FSK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108960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FSK 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3493008"/>
            <a:ext cx="52578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493008"/>
            <a:ext cx="946404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1524" y="3493008"/>
            <a:ext cx="220827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8FSK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493008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FSK 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3877056"/>
            <a:ext cx="5257800" cy="384048"/>
          </a:xfrm>
          <a:prstGeom prst="roundRect">
            <a:avLst>
              <a:gd name="adj" fmla="val 1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877056"/>
            <a:ext cx="946404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1524" y="3877056"/>
            <a:ext cx="220827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2PSK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877056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PSK 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4261104"/>
            <a:ext cx="52578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261104"/>
            <a:ext cx="946404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1524" y="4261104"/>
            <a:ext cx="220827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4PSK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4261104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PSK 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645152"/>
            <a:ext cx="5257800" cy="384048"/>
          </a:xfrm>
          <a:prstGeom prst="roundRect">
            <a:avLst>
              <a:gd name="adj" fmla="val 1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645152"/>
            <a:ext cx="946404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1524" y="4645152"/>
            <a:ext cx="220827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8PSK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4645152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PSK 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5029200"/>
            <a:ext cx="52578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5029200"/>
            <a:ext cx="946404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1524" y="5029200"/>
            <a:ext cx="220827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16QAM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5029200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QAM 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13248"/>
            <a:ext cx="5257800" cy="384048"/>
          </a:xfrm>
          <a:prstGeom prst="roundRect">
            <a:avLst>
              <a:gd name="adj" fmla="val 1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413248"/>
            <a:ext cx="946404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1524" y="5413248"/>
            <a:ext cx="220827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64QAM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5413248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QAM 类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5797296"/>
            <a:ext cx="52578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797296"/>
            <a:ext cx="946404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1524" y="5797296"/>
            <a:ext cx="220827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64OFDM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5797296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FFB70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OFDM 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特征构建：时域 + STFT 双通道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02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同一段 4096 点波形同时提供两类输入，时域 / 时频信息互为补充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71500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715000" cy="640080"/>
          </a:xfrm>
          <a:prstGeom prst="roundRect">
            <a:avLst>
              <a:gd name="adj" fmla="val 18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20"/>
            <a:ext cx="5715000" cy="228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7150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① 时域波形特征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31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5166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标准化公式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516636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B2A5B"/>
                </a:solidFill>
                <a:latin typeface="Calibri"/>
                <a:eastAsia typeface="Calibri"/>
                <a:cs typeface="Calibri"/>
                <a:ascii typeface="Calibri"/>
              </a:rPr>
              <a:t>x̃ = ( x − μ ) / ( σ + ε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5166360" cy="3017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固定长度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统一为 4096 点固定窗口，避免长度差异影响。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零均值 / 单位方差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稳定训练收敛速度，弱化幅值尺度差异。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送入 Bi-LSTM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保留波形相对变化规律，建模长时依赖。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适用场景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对幅值起伏、相位演替敏感的调制类别。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463040"/>
            <a:ext cx="571500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463040"/>
            <a:ext cx="5715000" cy="640080"/>
          </a:xfrm>
          <a:prstGeom prst="roundRect">
            <a:avLst>
              <a:gd name="adj" fmla="val 18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874520"/>
            <a:ext cx="5715000" cy="228600"/>
          </a:xfrm>
          <a:prstGeom prst="rect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463040"/>
            <a:ext cx="57150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② STFT 双通道时频特征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331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5166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表达式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51760"/>
            <a:ext cx="516636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Calibri"/>
                <a:eastAsia typeface="Calibri"/>
                <a:cs typeface="Calibri"/>
                <a:ascii typeface="Calibri"/>
              </a:rPr>
              <a:t>X(m,k) = Σ x(n)·w(n−mH)·e^(−j2πkn/N)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29000"/>
            <a:ext cx="5166360" cy="3017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时频联合分析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滑动窗口逐帧 DFT，刻画频率随时间的变化。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双通道堆叠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|X| 表示能量分布；arg(X) 保留相位信息。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张量形状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2 × H × W，H/W 由窗长与帧移决定。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●  </a:t>
            </a: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送入 ResNet-18*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首层卷积输入通道改为 2，匹配双通道输入。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网络结构：STFT + ResNet + BiLSTM 融合模型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02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两路特征在特征层拼接 (concat) 后送入全连接分类器，输出 9 类 Softmax 概率</a:t>
            </a:r>
          </a:p>
        </p:txBody>
      </p:sp>
      <p:pic>
        <p:nvPicPr>
          <p:cNvPr id="8" name="Picture 7" descr="networ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74552" cy="56193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63640"/>
            <a:ext cx="111556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图 3-2  Bi-LSTM × ResNet-18 双分支融合网络结构示意图（STFT 双通道输入 → Concat → FC → Softmax → 9 类）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训练策略与超参数设置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02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400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TRAINING 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4008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监督学习 · 交叉熵损失 · Adam 优化器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6400800" cy="4114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▣  </a:t>
            </a: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交叉熵损失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L = −Σ y_k · log(ŷ_k)，K = 9 类调制制式。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▣  </a:t>
            </a: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Adam 优化器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兼顾收敛速度与稳定性，配合 StepLR 学习率衰减策略。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▣  </a:t>
            </a: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验证集监控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保存验证准确率最高的权重，用于后续测试与部署。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▣  </a:t>
            </a: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ONNX 导出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— 同时构造时域与谱图两路输入张量，保持训练/部署一致。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097280"/>
            <a:ext cx="4892040" cy="534924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280160"/>
            <a:ext cx="43434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表 3-2  主要训练参数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91640"/>
            <a:ext cx="4343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TRAINING  HYPER-PARAMETERS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194560"/>
            <a:ext cx="4343400" cy="411480"/>
          </a:xfrm>
          <a:prstGeom prst="roundRect">
            <a:avLst>
              <a:gd name="adj" fmla="val 3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194560"/>
            <a:ext cx="21717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1220" y="2194560"/>
            <a:ext cx="21717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设置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651760"/>
            <a:ext cx="434340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2651760"/>
            <a:ext cx="21717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优化器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1220" y="2651760"/>
            <a:ext cx="203454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Adam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035808"/>
            <a:ext cx="4343400" cy="384048"/>
          </a:xfrm>
          <a:prstGeom prst="roundRect">
            <a:avLst>
              <a:gd name="adj" fmla="val 18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3035808"/>
            <a:ext cx="21717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学习率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1220" y="3035808"/>
            <a:ext cx="203454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5 × 10⁻⁴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419856"/>
            <a:ext cx="434340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3419856"/>
            <a:ext cx="21717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学习率调度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1220" y="3419856"/>
            <a:ext cx="203454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StepLR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803904"/>
            <a:ext cx="4343400" cy="384048"/>
          </a:xfrm>
          <a:prstGeom prst="roundRect">
            <a:avLst>
              <a:gd name="adj" fmla="val 18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80" y="3803904"/>
            <a:ext cx="21717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损失函数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1220" y="3803904"/>
            <a:ext cx="203454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Cross Entropy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4187952"/>
            <a:ext cx="434340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4187952"/>
            <a:ext cx="21717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批量大小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1220" y="4187952"/>
            <a:ext cx="203454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4572000"/>
            <a:ext cx="4343400" cy="384048"/>
          </a:xfrm>
          <a:prstGeom prst="roundRect">
            <a:avLst>
              <a:gd name="adj" fmla="val 18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80" y="4572000"/>
            <a:ext cx="21717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最大训练轮数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1220" y="4572000"/>
            <a:ext cx="203454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40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4956048"/>
            <a:ext cx="434340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80" y="4956048"/>
            <a:ext cx="21717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早停轮数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1220" y="4956048"/>
            <a:ext cx="203454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5340096"/>
            <a:ext cx="4343400" cy="384048"/>
          </a:xfrm>
          <a:prstGeom prst="roundRect">
            <a:avLst>
              <a:gd name="adj" fmla="val 18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80" y="5340096"/>
            <a:ext cx="21717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验证集比例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1220" y="5340096"/>
            <a:ext cx="203454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5 %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对比实验：五种模型方案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02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单特征基线 vs. 多特征融合，验证时域 / 时频特征的互补性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2249424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2249424" cy="1097280"/>
          </a:xfrm>
          <a:prstGeom prst="roundRect">
            <a:avLst>
              <a:gd name="adj" fmla="val 13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2249424" cy="4572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 RNN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975104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单特征 · 时域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1883664" cy="548640"/>
          </a:xfrm>
          <a:prstGeom prst="roundRect">
            <a:avLst>
              <a:gd name="adj" fmla="val 2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188366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输入特征
一维时域波形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883664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直接对一维时域序列建模，捕捉幅值 / 相位起伏。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486400"/>
            <a:ext cx="2249424" cy="274320"/>
          </a:xfrm>
          <a:prstGeom prst="roundRect">
            <a:avLst>
              <a:gd name="adj" fmla="val 3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486400"/>
            <a:ext cx="2249424" cy="13716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06624" y="1554480"/>
            <a:ext cx="2249424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06624" y="1554480"/>
            <a:ext cx="2249424" cy="1097280"/>
          </a:xfrm>
          <a:prstGeom prst="roundRect">
            <a:avLst>
              <a:gd name="adj" fmla="val 13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06624" y="2194560"/>
            <a:ext cx="2249424" cy="457200"/>
          </a:xfrm>
          <a:prstGeom prst="rect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6624" y="160020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6624" y="214884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+ TinyCNN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3784" y="2788920"/>
            <a:ext cx="1975104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单特征 · 时频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9504" y="3154680"/>
            <a:ext cx="1883664" cy="548640"/>
          </a:xfrm>
          <a:prstGeom prst="roundRect">
            <a:avLst>
              <a:gd name="adj" fmla="val 2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9504" y="3154680"/>
            <a:ext cx="188366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输入特征
STFT 幅值 + 相位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9504" y="3840480"/>
            <a:ext cx="1883664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轻量 CNN 提取谱图局部能量与频带分布。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06624" y="5486400"/>
            <a:ext cx="2249424" cy="274320"/>
          </a:xfrm>
          <a:prstGeom prst="roundRect">
            <a:avLst>
              <a:gd name="adj" fmla="val 3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06624" y="5486400"/>
            <a:ext cx="2249424" cy="137160"/>
          </a:xfrm>
          <a:prstGeom prst="rect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47488" y="1554480"/>
            <a:ext cx="2249424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47488" y="1554480"/>
            <a:ext cx="2249424" cy="1097280"/>
          </a:xfrm>
          <a:prstGeom prst="roundRect">
            <a:avLst>
              <a:gd name="adj" fmla="val 13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47488" y="2194560"/>
            <a:ext cx="2249424" cy="457200"/>
          </a:xfrm>
          <a:prstGeom prst="rect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7488" y="160020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214884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+ ResNet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2788920"/>
            <a:ext cx="1975104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单特征 · 时频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30368" y="3154680"/>
            <a:ext cx="1883664" cy="548640"/>
          </a:xfrm>
          <a:prstGeom prst="roundRect">
            <a:avLst>
              <a:gd name="adj" fmla="val 2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0368" y="3154680"/>
            <a:ext cx="188366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输入特征
STFT 幅值 + 相位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368" y="3840480"/>
            <a:ext cx="1883664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更深网络 + 残差连接，提取层次化谱图特征。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47488" y="5486400"/>
            <a:ext cx="2249424" cy="274320"/>
          </a:xfrm>
          <a:prstGeom prst="roundRect">
            <a:avLst>
              <a:gd name="adj" fmla="val 30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47488" y="5486400"/>
            <a:ext cx="2249424" cy="137160"/>
          </a:xfrm>
          <a:prstGeom prst="rect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88352" y="1554480"/>
            <a:ext cx="2249424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88352" y="1554480"/>
            <a:ext cx="2249424" cy="1097280"/>
          </a:xfrm>
          <a:prstGeom prst="roundRect">
            <a:avLst>
              <a:gd name="adj" fmla="val 13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88352" y="2194560"/>
            <a:ext cx="2249424" cy="45720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88352" y="160020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8352" y="214884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STFT-CNN + 时域 RNN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5512" y="2788920"/>
            <a:ext cx="1975104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融合 · 双特征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71232" y="3154680"/>
            <a:ext cx="1883664" cy="548640"/>
          </a:xfrm>
          <a:prstGeom prst="roundRect">
            <a:avLst>
              <a:gd name="adj" fmla="val 2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1232" y="3154680"/>
            <a:ext cx="188366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输入特征
时域 + STFT 谱图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71232" y="3840480"/>
            <a:ext cx="1883664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时域动态 + 时频纹理，特征层拼接分类。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88352" y="5486400"/>
            <a:ext cx="2249424" cy="274320"/>
          </a:xfrm>
          <a:prstGeom prst="roundRect">
            <a:avLst>
              <a:gd name="adj" fmla="val 3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8352" y="5486400"/>
            <a:ext cx="2249424" cy="13716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29216" y="1554480"/>
            <a:ext cx="2249424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729216" y="1554480"/>
            <a:ext cx="2249424" cy="1097280"/>
          </a:xfrm>
          <a:prstGeom prst="roundRect">
            <a:avLst>
              <a:gd name="adj" fmla="val 13000"/>
            </a:avLst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29216" y="2194560"/>
            <a:ext cx="2249424" cy="457200"/>
          </a:xfrm>
          <a:prstGeom prst="rect">
            <a:avLst/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29216" y="160020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29216" y="2148840"/>
            <a:ext cx="2249424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STFT-ResNet + 时域 RNN  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66376" y="2788920"/>
            <a:ext cx="1975104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融合 · 双特征 (本文)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12096" y="3154680"/>
            <a:ext cx="1883664" cy="548640"/>
          </a:xfrm>
          <a:prstGeom prst="roundRect">
            <a:avLst>
              <a:gd name="adj" fmla="val 2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12096" y="3154680"/>
            <a:ext cx="188366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输入特征
时域 + STFT 谱图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12096" y="3840480"/>
            <a:ext cx="1883664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本文方案：ResNet-18 + Bi-LSTM 融合分类，整体表现最佳。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29216" y="5486400"/>
            <a:ext cx="2249424" cy="274320"/>
          </a:xfrm>
          <a:prstGeom prst="roundRect">
            <a:avLst>
              <a:gd name="adj" fmla="val 30000"/>
            </a:avLst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29216" y="5486400"/>
            <a:ext cx="2249424" cy="137160"/>
          </a:xfrm>
          <a:prstGeom prst="rect">
            <a:avLst/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98932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说明：★ 为本文重点采用方案；后续实验将在独立测试集上叠加 AWGN 进行多 SNR 对比。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不同信噪比下识别率对比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02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AWGN 测试：SNR −10 ~ 10 dB，步长 2 dB，共 11 个测试点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7680960" cy="45720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5532120"/>
            <a:ext cx="6766560" cy="6350"/>
          </a:xfrm>
          <a:prstGeom prst="rect">
            <a:avLst/>
          </a:prstGeom>
          <a:solidFill>
            <a:srgbClr val="64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422392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663440"/>
            <a:ext cx="6766560" cy="6350"/>
          </a:xfrm>
          <a:prstGeom prst="rect">
            <a:avLst/>
          </a:prstGeom>
          <a:solidFill>
            <a:srgbClr val="64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553712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794760"/>
            <a:ext cx="6766560" cy="6350"/>
          </a:xfrm>
          <a:prstGeom prst="rect">
            <a:avLst/>
          </a:prstGeom>
          <a:solidFill>
            <a:srgbClr val="64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85032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926080"/>
            <a:ext cx="6766560" cy="6350"/>
          </a:xfrm>
          <a:prstGeom prst="rect">
            <a:avLst/>
          </a:prstGeom>
          <a:solidFill>
            <a:srgbClr val="64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16352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75%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057400"/>
            <a:ext cx="6766560" cy="6350"/>
          </a:xfrm>
          <a:prstGeom prst="rect">
            <a:avLst/>
          </a:prstGeom>
          <a:solidFill>
            <a:srgbClr val="64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947672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6776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3432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-6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6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5577840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824728"/>
            <a:ext cx="2743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Calibri"/>
                <a:eastAsia typeface="Calibri"/>
                <a:cs typeface="Calibri"/>
                <a:ascii typeface="Calibri"/>
              </a:rPr>
              <a:t>SNR  / 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Calibri"/>
                <a:eastAsia typeface="Calibri"/>
                <a:cs typeface="Calibri"/>
                <a:ascii typeface="Calibri"/>
              </a:rPr>
              <a:t>Accuracy  /  %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188720.0" y="4559198.4"/>
            <a:ext cx="676656.0" cy="208483.19999999925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65376.0" y="4385462.4"/>
            <a:ext cx="676656.0" cy="173736.0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542032.0" y="4176979.2"/>
            <a:ext cx="676656.0" cy="208483.2000000002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218688.0" y="3933748.8"/>
            <a:ext cx="676656.0" cy="243230.40000000037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895344.0" y="3690518.4"/>
            <a:ext cx="676656.0" cy="243230.3999999999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72000.0" y="3412540.8"/>
            <a:ext cx="676656.0" cy="277977.6000000001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248656.0" y="3169310.4"/>
            <a:ext cx="676656.0" cy="243230.3999999999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925312.0" y="2960827.2"/>
            <a:ext cx="676656.0" cy="208483.19999999972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01968.0" y="2856585.6"/>
            <a:ext cx="676656.0" cy="104241.6000000001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278624.0" y="2787091.1999999997"/>
            <a:ext cx="676656.0" cy="69494.40000000037"/>
          </a:xfrm>
          <a:prstGeom prst="line">
            <a:avLst/>
          </a:prstGeom>
          <a:ln w="317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124712" y="4703673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01368" y="4495190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78024" y="4321454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54680" y="4112971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831336" y="3869740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07992" y="3626510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184648" y="3348532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861304" y="3105302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537960" y="2896819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214616" y="2792577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891272" y="2723083"/>
            <a:ext cx="128016" cy="128016"/>
          </a:xfrm>
          <a:prstGeom prst="ellipse">
            <a:avLst/>
          </a:prstGeom>
          <a:solidFill>
            <a:srgbClr val="0E4D9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1188720.0" y="4246473.6"/>
            <a:ext cx="676656.0" cy="243230.40000000037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65376.0" y="3968496.0"/>
            <a:ext cx="676656.0" cy="277977.5999999996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542032.0" y="3690518.4"/>
            <a:ext cx="676656.0" cy="277977.6000000001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218688.0" y="3447288.0"/>
            <a:ext cx="676656.0" cy="243230.3999999999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895344.0" y="3238804.8"/>
            <a:ext cx="676656.0" cy="208483.2000000002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572000.0" y="3030321.6"/>
            <a:ext cx="676656.0" cy="208483.19999999972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248656.0" y="2856585.6"/>
            <a:ext cx="676656.0" cy="173736.0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25312.0" y="2717596.8"/>
            <a:ext cx="676656.0" cy="138988.80000000028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601968.0" y="2613355.2"/>
            <a:ext cx="676656.0" cy="104241.59999999963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278624.0" y="2543860.8"/>
            <a:ext cx="676656.0" cy="69494.40000000037"/>
          </a:xfrm>
          <a:prstGeom prst="line">
            <a:avLst/>
          </a:prstGeom>
          <a:ln w="31750">
            <a:solidFill>
              <a:srgbClr val="1D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124712" y="4425696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01368" y="4182465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478024" y="3904488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54680" y="3626510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831336" y="3383280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7992" y="3174796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184648" y="2966313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861304" y="2792577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537960" y="2653588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14616" y="2549347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891272" y="2479852"/>
            <a:ext cx="128016" cy="128016"/>
          </a:xfrm>
          <a:prstGeom prst="ellipse">
            <a:avLst/>
          </a:prstGeom>
          <a:solidFill>
            <a:srgbClr val="1D7A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1188720.0" y="4072737.6"/>
            <a:ext cx="676656.0" cy="243230.3999999999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865376.0" y="3794760.0"/>
            <a:ext cx="676656.0" cy="277977.6000000001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542032.0" y="3516782.4000000004"/>
            <a:ext cx="676656.0" cy="277977.5999999996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218688.0" y="3273552.0"/>
            <a:ext cx="676656.0" cy="243230.40000000037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895344.0" y="3030321.6"/>
            <a:ext cx="676656.0" cy="243230.3999999999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572000.0" y="2821838.4"/>
            <a:ext cx="676656.0" cy="208483.2000000002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248656.0" y="2682849.6"/>
            <a:ext cx="676656.0" cy="138988.7999999998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925312.0" y="2543860.8"/>
            <a:ext cx="676656.0" cy="138988.80000000028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01968.0" y="2474366.4"/>
            <a:ext cx="676656.0" cy="69494.3999999999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278624.0" y="2404872.0"/>
            <a:ext cx="676656.0" cy="69494.3999999999"/>
          </a:xfrm>
          <a:prstGeom prst="line">
            <a:avLst/>
          </a:prstGeom>
          <a:ln w="31750">
            <a:solidFill>
              <a:srgbClr val="12B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124712" y="4251960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801368" y="4008729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478024" y="3730752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154680" y="3452774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31336" y="3209544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07992" y="2966313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184648" y="2757830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861304" y="2618841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537960" y="2479852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214616" y="2410358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891272" y="2340864"/>
            <a:ext cx="128016" cy="128016"/>
          </a:xfrm>
          <a:prstGeom prst="ellipse">
            <a:avLst/>
          </a:prstGeom>
          <a:solidFill>
            <a:srgbClr val="12B0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1188720.0" y="3864254.4000000004"/>
            <a:ext cx="676656.0" cy="277977.5999999996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865376.0" y="3586276.8"/>
            <a:ext cx="676656.0" cy="277977.60000000056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542032.0" y="3308299.2"/>
            <a:ext cx="676656.0" cy="277977.5999999996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218688.0" y="3065068.8000000003"/>
            <a:ext cx="676656.0" cy="243230.3999999999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895344.0" y="2856585.6"/>
            <a:ext cx="676656.0" cy="208483.2000000002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572000.0" y="2682849.6"/>
            <a:ext cx="676656.0" cy="173736.0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248656.0" y="2543860.8"/>
            <a:ext cx="676656.0" cy="138988.80000000028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925312.0" y="2439619.2"/>
            <a:ext cx="676656.0" cy="104241.59999999963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601968.0" y="2370124.8"/>
            <a:ext cx="676656.0" cy="69494.40000000037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278624.0" y="2335377.6"/>
            <a:ext cx="676656.0" cy="34747.19999999972"/>
          </a:xfrm>
          <a:prstGeom prst="line">
            <a:avLst/>
          </a:prstGeom>
          <a:ln w="3175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124712" y="4078224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801368" y="3800246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478024" y="3522268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154680" y="3244291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831336" y="3001060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507992" y="2792577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184648" y="2618841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861304" y="2479852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537960" y="2375611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214616" y="2306116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891272" y="2271369"/>
            <a:ext cx="128016" cy="128016"/>
          </a:xfrm>
          <a:prstGeom prst="ellipse">
            <a:avLst/>
          </a:prstGeom>
          <a:solidFill>
            <a:srgbClr val="FFB70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 flipV="1">
            <a:off x="1188720.0" y="3238804.8"/>
            <a:ext cx="676656.0" cy="277977.60000000056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865376.0" y="2995574.4"/>
            <a:ext cx="676656.0" cy="243230.3999999999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542032.0" y="2752344.0"/>
            <a:ext cx="676656.0" cy="243230.3999999999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218688.0" y="2578608.0"/>
            <a:ext cx="676656.0" cy="173736.0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895344.0" y="2439619.2"/>
            <a:ext cx="676656.0" cy="138988.7999999998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4572000.0" y="2335377.6"/>
            <a:ext cx="676656.0" cy="104241.6000000001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248656.0" y="2265883.2"/>
            <a:ext cx="676656.0" cy="69494.3999999999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925312.0" y="2231136.0"/>
            <a:ext cx="676656.0" cy="34747.200000000186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01968.0" y="2196388.8000000003"/>
            <a:ext cx="676656.0" cy="34747.19999999972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278624.0" y="2196388.8000000003"/>
            <a:ext cx="676656.0" cy="0.0"/>
          </a:xfrm>
          <a:prstGeom prst="line">
            <a:avLst/>
          </a:prstGeom>
          <a:ln w="31750">
            <a:solidFill>
              <a:srgbClr val="E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1124712" y="3452774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801368" y="3174796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478024" y="2931566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154680" y="2688336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831336" y="2514600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507992" y="2375611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184648" y="2271369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61304" y="2201875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537960" y="2167128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214616" y="2132380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891272" y="2132380"/>
            <a:ext cx="128016" cy="128016"/>
          </a:xfrm>
          <a:prstGeom prst="ellipse">
            <a:avLst/>
          </a:prstGeom>
          <a:solidFill>
            <a:srgbClr val="EF55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503920" y="160020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778240" y="1783080"/>
            <a:ext cx="3154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模型图例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778240" y="2148840"/>
            <a:ext cx="31546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MODEL  LEGEND</a:t>
            </a:r>
          </a:p>
        </p:txBody>
      </p:sp>
      <p:sp>
        <p:nvSpPr>
          <p:cNvPr id="140" name="Oval 139"/>
          <p:cNvSpPr/>
          <p:nvPr/>
        </p:nvSpPr>
        <p:spPr>
          <a:xfrm>
            <a:off x="8823960" y="2697480"/>
            <a:ext cx="228600" cy="228600"/>
          </a:xfrm>
          <a:prstGeom prst="ellipse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144000" y="2606040"/>
            <a:ext cx="27889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RNN</a:t>
            </a:r>
          </a:p>
        </p:txBody>
      </p:sp>
      <p:sp>
        <p:nvSpPr>
          <p:cNvPr id="142" name="Oval 141"/>
          <p:cNvSpPr/>
          <p:nvPr/>
        </p:nvSpPr>
        <p:spPr>
          <a:xfrm>
            <a:off x="8823960" y="3108960"/>
            <a:ext cx="228600" cy="228600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0" y="3017520"/>
            <a:ext cx="27889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STFT+TinyCNN</a:t>
            </a:r>
          </a:p>
        </p:txBody>
      </p:sp>
      <p:sp>
        <p:nvSpPr>
          <p:cNvPr id="144" name="Oval 143"/>
          <p:cNvSpPr/>
          <p:nvPr/>
        </p:nvSpPr>
        <p:spPr>
          <a:xfrm>
            <a:off x="8823960" y="3520440"/>
            <a:ext cx="228600" cy="228600"/>
          </a:xfrm>
          <a:prstGeom prst="ellipse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144000" y="3429000"/>
            <a:ext cx="27889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STFT+ResNet</a:t>
            </a:r>
          </a:p>
        </p:txBody>
      </p:sp>
      <p:sp>
        <p:nvSpPr>
          <p:cNvPr id="146" name="Oval 145"/>
          <p:cNvSpPr/>
          <p:nvPr/>
        </p:nvSpPr>
        <p:spPr>
          <a:xfrm>
            <a:off x="8823960" y="3931920"/>
            <a:ext cx="228600" cy="22860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144000" y="3840480"/>
            <a:ext cx="27889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STFT+CNN+RNN</a:t>
            </a:r>
          </a:p>
        </p:txBody>
      </p:sp>
      <p:sp>
        <p:nvSpPr>
          <p:cNvPr id="148" name="Oval 147"/>
          <p:cNvSpPr/>
          <p:nvPr/>
        </p:nvSpPr>
        <p:spPr>
          <a:xfrm>
            <a:off x="8823960" y="4343400"/>
            <a:ext cx="228600" cy="228600"/>
          </a:xfrm>
          <a:prstGeom prst="ellipse">
            <a:avLst/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144000" y="4251960"/>
            <a:ext cx="27889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STFT+ResNet+RNN ★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778240" y="4892040"/>
            <a:ext cx="3154680" cy="1188720"/>
          </a:xfrm>
          <a:prstGeom prst="roundRect">
            <a:avLst>
              <a:gd name="adj" fmla="val 1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961120" y="4983480"/>
            <a:ext cx="2788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KEY  TAKE-AWAY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961120" y="5303520"/>
            <a:ext cx="278892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融合模型在低 SNR 下保持更高且更平稳的识别率，印证时域 / 时频特征的互补价值。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4400" y="6172200"/>
            <a:ext cx="69494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注：曲线为示意趋势图，具体数值以独立测试集实验结果为准。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树莓派端系统实现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02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PC 端训练 → ONNX 模型导出 → 树莓派 ONNX Runtime 端侧推理 → Tk 界面显示</a:t>
            </a:r>
          </a:p>
        </p:txBody>
      </p:sp>
      <p:pic>
        <p:nvPicPr>
          <p:cNvPr id="8" name="Picture 7" descr="deployment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11384280" cy="4784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00800"/>
            <a:ext cx="111556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图 3-3  树莓派端部署系统示意图（PC 训练 → ONNX → 树莓派推理 → 结果显示）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树莓派 Tk UI 界面设计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02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研究目标与内容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7132320" cy="5349240"/>
          </a:xfrm>
          <a:prstGeom prst="roundRect">
            <a:avLst>
              <a:gd name="adj" fmla="val 3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7132320" cy="411480"/>
          </a:xfrm>
          <a:prstGeom prst="roundRect">
            <a:avLst>
              <a:gd name="adj" fmla="val 1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44168"/>
            <a:ext cx="7132320" cy="210312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252728"/>
            <a:ext cx="201168" cy="201168"/>
          </a:xfrm>
          <a:prstGeom prst="ellipse">
            <a:avLst/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1252728"/>
            <a:ext cx="201168" cy="20116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25296" y="1252728"/>
            <a:ext cx="201168" cy="201168"/>
          </a:xfrm>
          <a:prstGeom prst="ellipse">
            <a:avLst/>
          </a:prstGeom>
          <a:solidFill>
            <a:srgbClr val="2A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1143000"/>
            <a:ext cx="5303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UAM-Recognizer  ·  树莓派水声制式识别系统  v1.0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6675120" cy="2011680"/>
          </a:xfrm>
          <a:prstGeom prst="roundRect">
            <a:avLst>
              <a:gd name="adj" fmla="val 4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764792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◆  实时输入波形 (Waveform)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68680" y="2523354.6564333932"/>
            <a:ext cx="53340.0" cy="311285.3435666067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22020.0" y="2469739.7424174054"/>
            <a:ext cx="53340.0" cy="53614.91401598789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.0" y="2469739.7424174054"/>
            <a:ext cx="53340.0" cy="23912.8859080700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8700.0" y="2493652.6283254754"/>
            <a:ext cx="53340.0" cy="33121.91929406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2040.0" y="2526774.5476195384"/>
            <a:ext cx="53340.0" cy="530.60432757204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35380.0" y="2508961.8397033038"/>
            <a:ext cx="53340.0" cy="18343.31224380666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88720.0" y="2508961.8397033038"/>
            <a:ext cx="53340.0" cy="17101.0656328317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2060.0" y="2526062.9053361355"/>
            <a:ext cx="53340.0" cy="99978.2863293732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95400.0" y="2626041.191665509"/>
            <a:ext cx="53340.0" cy="177811.1795363621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48740.0" y="2803852.371201871"/>
            <a:ext cx="53340.0" cy="188135.5534199485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02080.0" y="2991987.9246218195"/>
            <a:ext cx="53340.0" cy="103596.4611008246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455420.0" y="3050908.8152696453"/>
            <a:ext cx="53340.0" cy="44675.5704529988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508760.0" y="2868629.885817462"/>
            <a:ext cx="53340.0" cy="182278.929452183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562100.0" y="2632421.6468704795"/>
            <a:ext cx="53340.0" cy="236208.2389469826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615440.0" y="2452620.438954533"/>
            <a:ext cx="53340.0" cy="179801.2079159463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668780.0" y="2404265.639119539"/>
            <a:ext cx="53340.0" cy="48354.7998349941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722120.0" y="2404265.639119539"/>
            <a:ext cx="53340.0" cy="84691.17461330071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775460.0" y="2488956.8137328397"/>
            <a:ext cx="53340.0" cy="154830.5928665711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0.0" y="2643787.406599411"/>
            <a:ext cx="53340.0" cy="145374.4646985088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82140.0" y="2789161.8712979197"/>
            <a:ext cx="53340.0" cy="92685.2869317252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935480.0" y="2881847.158229645"/>
            <a:ext cx="53340.0" cy="55418.334947627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988820.0" y="2937265.4931772724"/>
            <a:ext cx="53340.0" cy="69889.9590837033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42160.0" y="3007155.4522609757"/>
            <a:ext cx="53340.0" cy="122874.9833013801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095500.0" y="3130030.435562356"/>
            <a:ext cx="53340.0" cy="160841.286585461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48840.0" y="3290871.7221478177"/>
            <a:ext cx="53340.0" cy="129307.7362225102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02180.0" y="3420179.458370328"/>
            <a:ext cx="53340.0" cy="14989.66719524189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255520.0" y="3296245.674617636"/>
            <a:ext cx="53340.0" cy="138923.4509479338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308860.0" y="3040276.722137961"/>
            <a:ext cx="53340.0" cy="255968.9524796749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362200.0" y="2766758.206630275"/>
            <a:ext cx="53340.0" cy="273518.5155076859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15540.0" y="2584050.5135663254"/>
            <a:ext cx="53340.0" cy="182707.693063949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468880.0" y="2549510.126284386"/>
            <a:ext cx="53340.0" cy="34540.38728193939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22220.0" y="2549510.126284386"/>
            <a:ext cx="53340.0" cy="92020.4009361532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575560.0" y="2641530.5272205393"/>
            <a:ext cx="53340.0" cy="138849.2304935646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628900.0" y="2780379.757714104"/>
            <a:ext cx="53340.0" cy="102152.8338615549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682240.0" y="2882532.591575659"/>
            <a:ext cx="53340.0" cy="29101.5282286722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35580.0" y="2892718.330983707"/>
            <a:ext cx="53340.0" cy="18915.78882062388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.0" y="2882230.3552030185"/>
            <a:ext cx="53340.0" cy="10487.97578068869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842260.0" y="2882230.3552030185"/>
            <a:ext cx="53340.0" cy="34717.2676916546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895600.0" y="2916947.622894673"/>
            <a:ext cx="53340.0" cy="62244.94377652695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48940.0" y="2979192.5666712"/>
            <a:ext cx="53340.0" cy="24872.77999763097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002280.0" y="2924848.1162730292"/>
            <a:ext cx="53340.0" cy="79217.2303958018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55620.0" y="2725555.6669820547"/>
            <a:ext cx="53340.0" cy="199292.4492909745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108960.0" y="2463555.0154555417"/>
            <a:ext cx="53340.0" cy="262000.6515265130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62300.0" y="2244602.316532359"/>
            <a:ext cx="53340.0" cy="218952.6989231826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215640.0" y="2164524.623459176"/>
            <a:ext cx="53340.0" cy="80077.6930731828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68980.0" y="2164524.623459176"/>
            <a:ext cx="53340.0" cy="89998.9427889613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322320.0" y="2254523.5662481375"/>
            <a:ext cx="53340.0" cy="210691.3553564231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375660.0" y="2465214.9216045607"/>
            <a:ext cx="53340.0" cy="233975.6546956547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429000.0" y="2699190.5763002154"/>
            <a:ext cx="53340.0" cy="170929.3137544044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482340.0" y="2870119.89005462"/>
            <a:ext cx="53340.0" cy="79436.74136695731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535680.0" y="2949556.631421577"/>
            <a:ext cx="53340.0" cy="22350.38354521617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589020.0" y="2971907.0149667934"/>
            <a:ext cx="53340.0" cy="25035.5284924339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642360.0" y="2996942.5434592273"/>
            <a:ext cx="53340.0" cy="61099.37594825821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695700.0" y="3058041.9194074855"/>
            <a:ext cx="53340.0" cy="75406.4133887002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749040.0" y="3133448.3327961857"/>
            <a:ext cx="53340.0" cy="27714.2356320833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802380.0" y="3087194.1586062964"/>
            <a:ext cx="53340.0" cy="73968.4098219727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855720.0" y="2913017.8966488093"/>
            <a:ext cx="53340.0" cy="174176.2619574871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909060.0" y="2707704.0791154755"/>
            <a:ext cx="53340.0" cy="205313.817533333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962400.0" y="2573748.379895141"/>
            <a:ext cx="53340.0" cy="133955.6992203346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015740.0" y="2573748.379895141"/>
            <a:ext cx="53340.0" cy="13445.32033516140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069080.0" y="2587193.7002303023"/>
            <a:ext cx="53340.0" cy="163535.225313078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122420.0" y="2750728.925543381"/>
            <a:ext cx="53340.000000000466" cy="239913.688907764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175760.0000000005" y="2990642.6144511453"/>
            <a:ext cx="53339.999999999534" cy="209266.2922780439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229100.0" y="3199908.906729189"/>
            <a:ext cx="53340.0" cy="99584.8935508448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282440.0" y="3278485.890976129"/>
            <a:ext cx="53340.0" cy="21007.90930390497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335780.0" y="3188505.009498932"/>
            <a:ext cx="53340.0" cy="89980.8814771971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389120.0" y="3098836.675548825"/>
            <a:ext cx="53340.0" cy="89668.33395010699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442460.0" y="3044821.4422305096"/>
            <a:ext cx="53340.0" cy="54015.2333183153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495800.0" y="3005584.065692891"/>
            <a:ext cx="53340.0" cy="39237.37653761869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549140.0" y="2926004.6092488286"/>
            <a:ext cx="53340.0" cy="79579.45644406229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602480.0" y="2766561.6829092484"/>
            <a:ext cx="53340.0" cy="159442.926339580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655820.0" y="2544818.7324171867"/>
            <a:ext cx="53340.0" cy="221742.9504920616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709160.0" y="2337562.617375584"/>
            <a:ext cx="53340.0" cy="207256.1150416028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762500.0" y="2239465.8462898554"/>
            <a:ext cx="53340.0" cy="98096.7710857284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815840.0" y="2239465.8462898554"/>
            <a:ext cx="53340.0" cy="64876.0154512822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869180.0" y="2304341.8617411377"/>
            <a:ext cx="53340.0" cy="203593.351686006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922520.0" y="2507935.213427144"/>
            <a:ext cx="53340.0" cy="249840.6009083166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975860.0" y="2757775.814335461"/>
            <a:ext cx="53340.0" cy="187029.1320413248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029200.0" y="2944804.9463767856"/>
            <a:ext cx="53340.0" cy="59169.8490940691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082540.0" y="2945359.334473329"/>
            <a:ext cx="53340.0" cy="58615.460997525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5135880.0" y="2837257.4244199283"/>
            <a:ext cx="53340.0" cy="108101.91005340079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189220.0" y="2754779.798484349"/>
            <a:ext cx="53340.0" cy="82477.6259355791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242560.0" y="2729849.118916804"/>
            <a:ext cx="53340.0" cy="24930.67956754518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295900.0" y="2729849.118916804"/>
            <a:ext cx="53340.0" cy="6505.912171732169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349240.0" y="2719126.396696626"/>
            <a:ext cx="53340.0" cy="17228.6343919099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402580.0" y="2644700.0080366028"/>
            <a:ext cx="53340.0" cy="74426.3886600234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455920.0" y="2536621.4278962817"/>
            <a:ext cx="53340.0" cy="108078.5801403210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509260.0" y="2468659.7789792395"/>
            <a:ext cx="53340.0" cy="67961.6489170421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562600.0" y="2468659.7789792395"/>
            <a:ext cx="53340.0" cy="49929.81692861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615940.0" y="2518589.5959078525"/>
            <a:ext cx="53340.0" cy="194464.8046069438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669280.0" y="2713054.4005147964"/>
            <a:ext cx="53340.0" cy="288269.217555586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722620.0" y="3001323.618070383"/>
            <a:ext cx="53340.0" cy="275955.7161413301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775960.0" y="3277279.334211713"/>
            <a:ext cx="53340.0" cy="159772.8521418250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829300.0" y="3435895.577688004"/>
            <a:ext cx="53340.0" cy="1156.6086655342951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882640.0" y="3308267.180822744"/>
            <a:ext cx="53340.0" cy="127628.3968652598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935980.0" y="3139445.1410292345"/>
            <a:ext cx="53340.0" cy="168822.0397935095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989320.0" y="3008910.1392956497"/>
            <a:ext cx="53340.0" cy="130535.001733584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042660.0" y="2943687.1713035484"/>
            <a:ext cx="53340.0" cy="65222.9679921013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096000.0" y="2911892.9790747296"/>
            <a:ext cx="53340.0" cy="31794.19222881877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149340.0" y="2858514.588995401"/>
            <a:ext cx="53340.0" cy="53378.39007932879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202680.0" y="2756316.555253019"/>
            <a:ext cx="53340.0" cy="102198.0337423817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256020.0" y="2634627.9484132384"/>
            <a:ext cx="53340.0" cy="121688.606839780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309360.0" y="2564465.990416694"/>
            <a:ext cx="53340.0" cy="70161.95799654443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362700.0" y="2564465.990416694"/>
            <a:ext cx="53340.0" cy="44732.28878518939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416040.0" y="2609198.2792018834"/>
            <a:ext cx="53340.0" cy="165413.6981737096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469380.0" y="2774611.977375593"/>
            <a:ext cx="53340.0" cy="219214.5063240397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522720.0" y="2993826.483699633"/>
            <a:ext cx="53340.0" cy="165830.802023318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576060.0" y="3159657.2857229514"/>
            <a:ext cx="53340.0" cy="25507.3472074931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29400.0" y="3053798.192735538"/>
            <a:ext cx="53340.0" cy="131366.44019490667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682740.0" y="2826948.9609070695"/>
            <a:ext cx="53340.0" cy="226849.231828468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736080.0" y="2604624.6678001443"/>
            <a:ext cx="53340.0" cy="222324.293106925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789420.0" y="2465609.693671343"/>
            <a:ext cx="53340.0" cy="139014.9741288013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842760.0" y="2426261.488459284"/>
            <a:ext cx="53340.0" cy="39348.20521205896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896100.0" y="2426261.488459284"/>
            <a:ext cx="53340.0" cy="17304.43548204796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949440.0" y="2443565.923941332"/>
            <a:ext cx="53340.0" cy="14029.60178596526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002780.0" y="2441890.061391205"/>
            <a:ext cx="53340.0" cy="15705.464336092118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7056120.0" y="2425580.759378534"/>
            <a:ext cx="53340.0" cy="16309.30201267125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109460.0" y="2425580.759378534"/>
            <a:ext cx="53340.0" cy="45785.195896538906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162800.0" y="2471365.9552750727"/>
            <a:ext cx="53340.0" cy="153343.19825469982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216140.0" y="2624709.1535297725"/>
            <a:ext cx="53340.0" cy="245654.87960869074"/>
          </a:xfrm>
          <a:prstGeom prst="line">
            <a:avLst/>
          </a:prstGeom>
          <a:ln w="19050">
            <a:solidFill>
              <a:srgbClr val="0E4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868680" y="2834640"/>
            <a:ext cx="6400800" cy="6350"/>
          </a:xfrm>
          <a:prstGeom prst="rect">
            <a:avLst/>
          </a:prstGeom>
          <a:solidFill>
            <a:srgbClr val="647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731520" y="3886200"/>
            <a:ext cx="6675120" cy="1463040"/>
          </a:xfrm>
          <a:prstGeom prst="roundRect">
            <a:avLst>
              <a:gd name="adj" fmla="val 4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8680" y="3959352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◆  STFT 时频谱图 (Spectrogram)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68680" y="4297680"/>
            <a:ext cx="184150" cy="125222"/>
          </a:xfrm>
          <a:prstGeom prst="rect">
            <a:avLst/>
          </a:prstGeom>
          <a:solidFill>
            <a:srgbClr val="D9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46480" y="4297680"/>
            <a:ext cx="184150" cy="125222"/>
          </a:xfrm>
          <a:prstGeom prst="rect">
            <a:avLst/>
          </a:prstGeom>
          <a:solidFill>
            <a:srgbClr val="D2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224280" y="4297680"/>
            <a:ext cx="184150" cy="125222"/>
          </a:xfrm>
          <a:prstGeom prst="rect">
            <a:avLst/>
          </a:prstGeom>
          <a:solidFill>
            <a:srgbClr val="7C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402080" y="4297680"/>
            <a:ext cx="184150" cy="125222"/>
          </a:xfrm>
          <a:prstGeom prst="rect">
            <a:avLst/>
          </a:prstGeom>
          <a:solidFill>
            <a:srgbClr val="81A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579880" y="4297680"/>
            <a:ext cx="184150" cy="125222"/>
          </a:xfrm>
          <a:prstGeom prst="rect">
            <a:avLst/>
          </a:prstGeom>
          <a:solidFill>
            <a:srgbClr val="3C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757680" y="4297680"/>
            <a:ext cx="184150" cy="125222"/>
          </a:xfrm>
          <a:prstGeom prst="rect">
            <a:avLst/>
          </a:prstGeom>
          <a:solidFill>
            <a:srgbClr val="346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935480" y="4297680"/>
            <a:ext cx="184150" cy="125222"/>
          </a:xfrm>
          <a:prstGeom prst="rect">
            <a:avLst/>
          </a:prstGeom>
          <a:solidFill>
            <a:srgbClr val="437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113280" y="4297680"/>
            <a:ext cx="184150" cy="125222"/>
          </a:xfrm>
          <a:prstGeom prst="rect">
            <a:avLst/>
          </a:prstGeom>
          <a:solidFill>
            <a:srgbClr val="22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291080" y="4297680"/>
            <a:ext cx="184150" cy="125222"/>
          </a:xfrm>
          <a:prstGeom prst="rect">
            <a:avLst/>
          </a:prstGeom>
          <a:solidFill>
            <a:srgbClr val="578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468880" y="4297680"/>
            <a:ext cx="184150" cy="125222"/>
          </a:xfrm>
          <a:prstGeom prst="rect">
            <a:avLst/>
          </a:prstGeom>
          <a:solidFill>
            <a:srgbClr val="518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646680" y="4297680"/>
            <a:ext cx="184150" cy="125222"/>
          </a:xfrm>
          <a:prstGeom prst="rect">
            <a:avLst/>
          </a:prstGeom>
          <a:solidFill>
            <a:srgbClr val="92B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824480" y="4297680"/>
            <a:ext cx="184150" cy="125222"/>
          </a:xfrm>
          <a:prstGeom prst="rect">
            <a:avLst/>
          </a:prstGeom>
          <a:solidFill>
            <a:srgbClr val="BCD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002280" y="4297680"/>
            <a:ext cx="184150" cy="125222"/>
          </a:xfrm>
          <a:prstGeom prst="rect">
            <a:avLst/>
          </a:prstGeom>
          <a:solidFill>
            <a:srgbClr val="D1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180080" y="4297680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357880" y="4297680"/>
            <a:ext cx="184150" cy="125222"/>
          </a:xfrm>
          <a:prstGeom prst="rect">
            <a:avLst/>
          </a:prstGeom>
          <a:solidFill>
            <a:srgbClr val="83A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535680" y="4297680"/>
            <a:ext cx="184150" cy="125222"/>
          </a:xfrm>
          <a:prstGeom prst="rect">
            <a:avLst/>
          </a:prstGeom>
          <a:solidFill>
            <a:srgbClr val="5F8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713480" y="4297680"/>
            <a:ext cx="184150" cy="125222"/>
          </a:xfrm>
          <a:prstGeom prst="rect">
            <a:avLst/>
          </a:prstGeom>
          <a:solidFill>
            <a:srgbClr val="5A8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891280" y="4297680"/>
            <a:ext cx="184150" cy="125222"/>
          </a:xfrm>
          <a:prstGeom prst="rect">
            <a:avLst/>
          </a:prstGeom>
          <a:solidFill>
            <a:srgbClr val="58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069080" y="4297680"/>
            <a:ext cx="184150" cy="125222"/>
          </a:xfrm>
          <a:prstGeom prst="rect">
            <a:avLst/>
          </a:prstGeom>
          <a:solidFill>
            <a:srgbClr val="2A6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246880" y="4297680"/>
            <a:ext cx="184150" cy="125222"/>
          </a:xfrm>
          <a:prstGeom prst="rect">
            <a:avLst/>
          </a:prstGeom>
          <a:solidFill>
            <a:srgbClr val="205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424680" y="4297680"/>
            <a:ext cx="184150" cy="125222"/>
          </a:xfrm>
          <a:prstGeom prst="rect">
            <a:avLst/>
          </a:prstGeom>
          <a:solidFill>
            <a:srgbClr val="4E7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602480" y="4297680"/>
            <a:ext cx="184150" cy="125222"/>
          </a:xfrm>
          <a:prstGeom prst="rect">
            <a:avLst/>
          </a:prstGeom>
          <a:solidFill>
            <a:srgbClr val="205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780280" y="4297680"/>
            <a:ext cx="184150" cy="125222"/>
          </a:xfrm>
          <a:prstGeom prst="rect">
            <a:avLst/>
          </a:prstGeom>
          <a:solidFill>
            <a:srgbClr val="779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958080" y="4297680"/>
            <a:ext cx="184150" cy="125222"/>
          </a:xfrm>
          <a:prstGeom prst="rect">
            <a:avLst/>
          </a:prstGeom>
          <a:solidFill>
            <a:srgbClr val="71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135880" y="4297680"/>
            <a:ext cx="184150" cy="125222"/>
          </a:xfrm>
          <a:prstGeom prst="rect">
            <a:avLst/>
          </a:prstGeom>
          <a:solidFill>
            <a:srgbClr val="93B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313680" y="4297680"/>
            <a:ext cx="184150" cy="125222"/>
          </a:xfrm>
          <a:prstGeom prst="rect">
            <a:avLst/>
          </a:prstGeom>
          <a:solidFill>
            <a:srgbClr val="C2D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491480" y="4297680"/>
            <a:ext cx="184150" cy="125222"/>
          </a:xfrm>
          <a:prstGeom prst="rect">
            <a:avLst/>
          </a:prstGeom>
          <a:solidFill>
            <a:srgbClr val="CCD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0" y="4297680"/>
            <a:ext cx="184150" cy="125222"/>
          </a:xfrm>
          <a:prstGeom prst="rect">
            <a:avLst/>
          </a:prstGeom>
          <a:solidFill>
            <a:srgbClr val="749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847080" y="4297680"/>
            <a:ext cx="184150" cy="125222"/>
          </a:xfrm>
          <a:prstGeom prst="rect">
            <a:avLst/>
          </a:prstGeom>
          <a:solidFill>
            <a:srgbClr val="7EA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024880" y="4297680"/>
            <a:ext cx="184150" cy="125222"/>
          </a:xfrm>
          <a:prstGeom prst="rect">
            <a:avLst/>
          </a:prstGeom>
          <a:solidFill>
            <a:srgbClr val="3C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202680" y="4297680"/>
            <a:ext cx="184150" cy="125222"/>
          </a:xfrm>
          <a:prstGeom prst="rect">
            <a:avLst/>
          </a:prstGeom>
          <a:solidFill>
            <a:srgbClr val="215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380480" y="4297680"/>
            <a:ext cx="184150" cy="125222"/>
          </a:xfrm>
          <a:prstGeom prst="rect">
            <a:avLst/>
          </a:prstGeom>
          <a:solidFill>
            <a:srgbClr val="2B6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558280" y="4297680"/>
            <a:ext cx="184150" cy="125222"/>
          </a:xfrm>
          <a:prstGeom prst="rect">
            <a:avLst/>
          </a:prstGeom>
          <a:solidFill>
            <a:srgbClr val="205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736080" y="4297680"/>
            <a:ext cx="184150" cy="125222"/>
          </a:xfrm>
          <a:prstGeom prst="rect">
            <a:avLst/>
          </a:prstGeom>
          <a:solidFill>
            <a:srgbClr val="528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913880" y="4297680"/>
            <a:ext cx="184150" cy="125222"/>
          </a:xfrm>
          <a:prstGeom prst="rect">
            <a:avLst/>
          </a:prstGeom>
          <a:solidFill>
            <a:srgbClr val="6B9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091680" y="4297680"/>
            <a:ext cx="184150" cy="125222"/>
          </a:xfrm>
          <a:prstGeom prst="rect">
            <a:avLst/>
          </a:prstGeom>
          <a:solidFill>
            <a:srgbClr val="82A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68680" y="4416552"/>
            <a:ext cx="184150" cy="125222"/>
          </a:xfrm>
          <a:prstGeom prst="rect">
            <a:avLst/>
          </a:prstGeom>
          <a:solidFill>
            <a:srgbClr val="D9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46480" y="4416552"/>
            <a:ext cx="184150" cy="125222"/>
          </a:xfrm>
          <a:prstGeom prst="rect">
            <a:avLst/>
          </a:prstGeom>
          <a:solidFill>
            <a:srgbClr val="C0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224280" y="4416552"/>
            <a:ext cx="184150" cy="125222"/>
          </a:xfrm>
          <a:prstGeom prst="rect">
            <a:avLst/>
          </a:prstGeom>
          <a:solidFill>
            <a:srgbClr val="9EB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402080" y="4416552"/>
            <a:ext cx="184150" cy="125222"/>
          </a:xfrm>
          <a:prstGeom prst="rect">
            <a:avLst/>
          </a:prstGeom>
          <a:solidFill>
            <a:srgbClr val="638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579880" y="4416552"/>
            <a:ext cx="184150" cy="125222"/>
          </a:xfrm>
          <a:prstGeom prst="rect">
            <a:avLst/>
          </a:prstGeom>
          <a:solidFill>
            <a:srgbClr val="507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757680" y="4416552"/>
            <a:ext cx="184150" cy="125222"/>
          </a:xfrm>
          <a:prstGeom prst="rect">
            <a:avLst/>
          </a:prstGeom>
          <a:solidFill>
            <a:srgbClr val="497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935480" y="4416552"/>
            <a:ext cx="184150" cy="125222"/>
          </a:xfrm>
          <a:prstGeom prst="rect">
            <a:avLst/>
          </a:prstGeom>
          <a:solidFill>
            <a:srgbClr val="205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113280" y="4416552"/>
            <a:ext cx="184150" cy="125222"/>
          </a:xfrm>
          <a:prstGeom prst="rect">
            <a:avLst/>
          </a:prstGeom>
          <a:solidFill>
            <a:srgbClr val="225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291080" y="4416552"/>
            <a:ext cx="184150" cy="125222"/>
          </a:xfrm>
          <a:prstGeom prst="rect">
            <a:avLst/>
          </a:prstGeom>
          <a:solidFill>
            <a:srgbClr val="548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2468880" y="4416552"/>
            <a:ext cx="184150" cy="125222"/>
          </a:xfrm>
          <a:prstGeom prst="rect">
            <a:avLst/>
          </a:prstGeom>
          <a:solidFill>
            <a:srgbClr val="528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646680" y="4416552"/>
            <a:ext cx="184150" cy="125222"/>
          </a:xfrm>
          <a:prstGeom prst="rect">
            <a:avLst/>
          </a:prstGeom>
          <a:solidFill>
            <a:srgbClr val="779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824480" y="4416552"/>
            <a:ext cx="184150" cy="125222"/>
          </a:xfrm>
          <a:prstGeom prst="rect">
            <a:avLst/>
          </a:prstGeom>
          <a:solidFill>
            <a:srgbClr val="83A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002280" y="4416552"/>
            <a:ext cx="184150" cy="125222"/>
          </a:xfrm>
          <a:prstGeom prst="rect">
            <a:avLst/>
          </a:prstGeom>
          <a:solidFill>
            <a:srgbClr val="BBC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180080" y="4416552"/>
            <a:ext cx="184150" cy="125222"/>
          </a:xfrm>
          <a:prstGeom prst="rect">
            <a:avLst/>
          </a:prstGeom>
          <a:solidFill>
            <a:srgbClr val="C3D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357880" y="4416552"/>
            <a:ext cx="184150" cy="125222"/>
          </a:xfrm>
          <a:prstGeom prst="rect">
            <a:avLst/>
          </a:prstGeom>
          <a:solidFill>
            <a:srgbClr val="CDD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35680" y="4416552"/>
            <a:ext cx="184150" cy="125222"/>
          </a:xfrm>
          <a:prstGeom prst="rect">
            <a:avLst/>
          </a:prstGeom>
          <a:solidFill>
            <a:srgbClr val="60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713480" y="4416552"/>
            <a:ext cx="184150" cy="125222"/>
          </a:xfrm>
          <a:prstGeom prst="rect">
            <a:avLst/>
          </a:prstGeom>
          <a:solidFill>
            <a:srgbClr val="568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891280" y="4416552"/>
            <a:ext cx="184150" cy="125222"/>
          </a:xfrm>
          <a:prstGeom prst="rect">
            <a:avLst/>
          </a:prstGeom>
          <a:solidFill>
            <a:srgbClr val="578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069080" y="4416552"/>
            <a:ext cx="184150" cy="125222"/>
          </a:xfrm>
          <a:prstGeom prst="rect">
            <a:avLst/>
          </a:prstGeom>
          <a:solidFill>
            <a:srgbClr val="205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246880" y="4416552"/>
            <a:ext cx="184150" cy="125222"/>
          </a:xfrm>
          <a:prstGeom prst="rect">
            <a:avLst/>
          </a:prstGeom>
          <a:solidFill>
            <a:srgbClr val="2F6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424680" y="4416552"/>
            <a:ext cx="184150" cy="125222"/>
          </a:xfrm>
          <a:prstGeom prst="rect">
            <a:avLst/>
          </a:prstGeom>
          <a:solidFill>
            <a:srgbClr val="205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602480" y="4416552"/>
            <a:ext cx="184150" cy="125222"/>
          </a:xfrm>
          <a:prstGeom prst="rect">
            <a:avLst/>
          </a:prstGeom>
          <a:solidFill>
            <a:srgbClr val="578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780280" y="4416552"/>
            <a:ext cx="184150" cy="125222"/>
          </a:xfrm>
          <a:prstGeom prst="rect">
            <a:avLst/>
          </a:prstGeom>
          <a:solidFill>
            <a:srgbClr val="7B9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958080" y="4416552"/>
            <a:ext cx="184150" cy="125222"/>
          </a:xfrm>
          <a:prstGeom prst="rect">
            <a:avLst/>
          </a:prstGeom>
          <a:solidFill>
            <a:srgbClr val="90A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5880" y="4416552"/>
            <a:ext cx="184150" cy="125222"/>
          </a:xfrm>
          <a:prstGeom prst="rect">
            <a:avLst/>
          </a:prstGeom>
          <a:solidFill>
            <a:srgbClr val="D2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13680" y="4416552"/>
            <a:ext cx="184150" cy="125222"/>
          </a:xfrm>
          <a:prstGeom prst="rect">
            <a:avLst/>
          </a:prstGeom>
          <a:solidFill>
            <a:srgbClr val="D2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91480" y="4416552"/>
            <a:ext cx="184150" cy="125222"/>
          </a:xfrm>
          <a:prstGeom prst="rect">
            <a:avLst/>
          </a:prstGeom>
          <a:solidFill>
            <a:srgbClr val="B0C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9280" y="4416552"/>
            <a:ext cx="184150" cy="125222"/>
          </a:xfrm>
          <a:prstGeom prst="rect">
            <a:avLst/>
          </a:prstGeom>
          <a:solidFill>
            <a:srgbClr val="8DA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47080" y="4416552"/>
            <a:ext cx="184150" cy="125222"/>
          </a:xfrm>
          <a:prstGeom prst="rect">
            <a:avLst/>
          </a:prstGeom>
          <a:solidFill>
            <a:srgbClr val="689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6024880" y="4416552"/>
            <a:ext cx="184150" cy="125222"/>
          </a:xfrm>
          <a:prstGeom prst="rect">
            <a:avLst/>
          </a:prstGeom>
          <a:solidFill>
            <a:srgbClr val="538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202680" y="4416552"/>
            <a:ext cx="184150" cy="125222"/>
          </a:xfrm>
          <a:prstGeom prst="rect">
            <a:avLst/>
          </a:prstGeom>
          <a:solidFill>
            <a:srgbClr val="205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380480" y="4416552"/>
            <a:ext cx="184150" cy="125222"/>
          </a:xfrm>
          <a:prstGeom prst="rect">
            <a:avLst/>
          </a:prstGeom>
          <a:solidFill>
            <a:srgbClr val="205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558280" y="4416552"/>
            <a:ext cx="184150" cy="125222"/>
          </a:xfrm>
          <a:prstGeom prst="rect">
            <a:avLst/>
          </a:prstGeom>
          <a:solidFill>
            <a:srgbClr val="336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736080" y="4416552"/>
            <a:ext cx="184150" cy="125222"/>
          </a:xfrm>
          <a:prstGeom prst="rect">
            <a:avLst/>
          </a:prstGeom>
          <a:solidFill>
            <a:srgbClr val="3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913880" y="4416552"/>
            <a:ext cx="184150" cy="125222"/>
          </a:xfrm>
          <a:prstGeom prst="rect">
            <a:avLst/>
          </a:prstGeom>
          <a:solidFill>
            <a:srgbClr val="789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091680" y="4416552"/>
            <a:ext cx="184150" cy="125222"/>
          </a:xfrm>
          <a:prstGeom prst="rect">
            <a:avLst/>
          </a:prstGeom>
          <a:solidFill>
            <a:srgbClr val="648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68680" y="4535424"/>
            <a:ext cx="184150" cy="125222"/>
          </a:xfrm>
          <a:prstGeom prst="rect">
            <a:avLst/>
          </a:prstGeom>
          <a:solidFill>
            <a:srgbClr val="DCE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046480" y="4535424"/>
            <a:ext cx="184150" cy="125222"/>
          </a:xfrm>
          <a:prstGeom prst="rect">
            <a:avLst/>
          </a:prstGeom>
          <a:solidFill>
            <a:srgbClr val="9EB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224280" y="4535424"/>
            <a:ext cx="184150" cy="125222"/>
          </a:xfrm>
          <a:prstGeom prst="rect">
            <a:avLst/>
          </a:prstGeom>
          <a:solidFill>
            <a:srgbClr val="8BA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402080" y="4535424"/>
            <a:ext cx="184150" cy="125222"/>
          </a:xfrm>
          <a:prstGeom prst="rect">
            <a:avLst/>
          </a:prstGeom>
          <a:solidFill>
            <a:srgbClr val="9AB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579880" y="4535424"/>
            <a:ext cx="184150" cy="125222"/>
          </a:xfrm>
          <a:prstGeom prst="rect">
            <a:avLst/>
          </a:prstGeom>
          <a:solidFill>
            <a:srgbClr val="7B9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757680" y="4535424"/>
            <a:ext cx="184150" cy="125222"/>
          </a:xfrm>
          <a:prstGeom prst="rect">
            <a:avLst/>
          </a:prstGeom>
          <a:solidFill>
            <a:srgbClr val="568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935480" y="4535424"/>
            <a:ext cx="184150" cy="125222"/>
          </a:xfrm>
          <a:prstGeom prst="rect">
            <a:avLst/>
          </a:prstGeom>
          <a:solidFill>
            <a:srgbClr val="83A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2113280" y="4535424"/>
            <a:ext cx="184150" cy="125222"/>
          </a:xfrm>
          <a:prstGeom prst="rect">
            <a:avLst/>
          </a:prstGeom>
          <a:solidFill>
            <a:srgbClr val="618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2291080" y="4535424"/>
            <a:ext cx="184150" cy="125222"/>
          </a:xfrm>
          <a:prstGeom prst="rect">
            <a:avLst/>
          </a:prstGeom>
          <a:solidFill>
            <a:srgbClr val="83A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2468880" y="4535424"/>
            <a:ext cx="184150" cy="125222"/>
          </a:xfrm>
          <a:prstGeom prst="rect">
            <a:avLst/>
          </a:prstGeom>
          <a:solidFill>
            <a:srgbClr val="9AB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646680" y="4535424"/>
            <a:ext cx="184150" cy="125222"/>
          </a:xfrm>
          <a:prstGeom prst="rect">
            <a:avLst/>
          </a:prstGeom>
          <a:solidFill>
            <a:srgbClr val="B7C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2824480" y="4535424"/>
            <a:ext cx="184150" cy="125222"/>
          </a:xfrm>
          <a:prstGeom prst="rect">
            <a:avLst/>
          </a:prstGeom>
          <a:solidFill>
            <a:srgbClr val="9DB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002280" y="4535424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3180080" y="4535424"/>
            <a:ext cx="184150" cy="125222"/>
          </a:xfrm>
          <a:prstGeom prst="rect">
            <a:avLst/>
          </a:prstGeom>
          <a:solidFill>
            <a:srgbClr val="C4D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357880" y="4535424"/>
            <a:ext cx="184150" cy="125222"/>
          </a:xfrm>
          <a:prstGeom prst="rect">
            <a:avLst/>
          </a:prstGeom>
          <a:solidFill>
            <a:srgbClr val="AEC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3535680" y="4535424"/>
            <a:ext cx="184150" cy="125222"/>
          </a:xfrm>
          <a:prstGeom prst="rect">
            <a:avLst/>
          </a:prstGeom>
          <a:solidFill>
            <a:srgbClr val="B6C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713480" y="4535424"/>
            <a:ext cx="184150" cy="125222"/>
          </a:xfrm>
          <a:prstGeom prst="rect">
            <a:avLst/>
          </a:prstGeom>
          <a:solidFill>
            <a:srgbClr val="5C8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891280" y="4535424"/>
            <a:ext cx="184150" cy="125222"/>
          </a:xfrm>
          <a:prstGeom prst="rect">
            <a:avLst/>
          </a:prstGeom>
          <a:solidFill>
            <a:srgbClr val="679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069080" y="4535424"/>
            <a:ext cx="184150" cy="125222"/>
          </a:xfrm>
          <a:prstGeom prst="rect">
            <a:avLst/>
          </a:prstGeom>
          <a:solidFill>
            <a:srgbClr val="638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246880" y="4535424"/>
            <a:ext cx="184150" cy="125222"/>
          </a:xfrm>
          <a:prstGeom prst="rect">
            <a:avLst/>
          </a:prstGeom>
          <a:solidFill>
            <a:srgbClr val="7B9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424680" y="4535424"/>
            <a:ext cx="184150" cy="125222"/>
          </a:xfrm>
          <a:prstGeom prst="rect">
            <a:avLst/>
          </a:prstGeom>
          <a:solidFill>
            <a:srgbClr val="7B9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602480" y="4535424"/>
            <a:ext cx="184150" cy="125222"/>
          </a:xfrm>
          <a:prstGeom prst="rect">
            <a:avLst/>
          </a:prstGeom>
          <a:solidFill>
            <a:srgbClr val="8DA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780280" y="4535424"/>
            <a:ext cx="184150" cy="125222"/>
          </a:xfrm>
          <a:prstGeom prst="rect">
            <a:avLst/>
          </a:prstGeom>
          <a:solidFill>
            <a:srgbClr val="739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958080" y="4535424"/>
            <a:ext cx="184150" cy="125222"/>
          </a:xfrm>
          <a:prstGeom prst="rect">
            <a:avLst/>
          </a:prstGeom>
          <a:solidFill>
            <a:srgbClr val="9AB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135880" y="4535424"/>
            <a:ext cx="184150" cy="125222"/>
          </a:xfrm>
          <a:prstGeom prst="rect">
            <a:avLst/>
          </a:prstGeom>
          <a:solidFill>
            <a:srgbClr val="B5C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313680" y="4535424"/>
            <a:ext cx="184150" cy="125222"/>
          </a:xfrm>
          <a:prstGeom prst="rect">
            <a:avLst/>
          </a:prstGeom>
          <a:solidFill>
            <a:srgbClr val="CDD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491480" y="4535424"/>
            <a:ext cx="184150" cy="125222"/>
          </a:xfrm>
          <a:prstGeom prst="rect">
            <a:avLst/>
          </a:prstGeom>
          <a:solidFill>
            <a:srgbClr val="A5B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669280" y="4535424"/>
            <a:ext cx="184150" cy="125222"/>
          </a:xfrm>
          <a:prstGeom prst="rect">
            <a:avLst/>
          </a:prstGeom>
          <a:solidFill>
            <a:srgbClr val="C5D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7080" y="4535424"/>
            <a:ext cx="184150" cy="125222"/>
          </a:xfrm>
          <a:prstGeom prst="rect">
            <a:avLst/>
          </a:prstGeom>
          <a:solidFill>
            <a:srgbClr val="A6B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24880" y="4535424"/>
            <a:ext cx="184150" cy="125222"/>
          </a:xfrm>
          <a:prstGeom prst="rect">
            <a:avLst/>
          </a:prstGeom>
          <a:solidFill>
            <a:srgbClr val="8AA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02680" y="4535424"/>
            <a:ext cx="184150" cy="125222"/>
          </a:xfrm>
          <a:prstGeom prst="rect">
            <a:avLst/>
          </a:prstGeom>
          <a:solidFill>
            <a:srgbClr val="7A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80480" y="4535424"/>
            <a:ext cx="184150" cy="125222"/>
          </a:xfrm>
          <a:prstGeom prst="rect">
            <a:avLst/>
          </a:prstGeom>
          <a:solidFill>
            <a:srgbClr val="5E8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58280" y="4535424"/>
            <a:ext cx="184150" cy="125222"/>
          </a:xfrm>
          <a:prstGeom prst="rect">
            <a:avLst/>
          </a:prstGeom>
          <a:solidFill>
            <a:srgbClr val="578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736080" y="4535424"/>
            <a:ext cx="184150" cy="125222"/>
          </a:xfrm>
          <a:prstGeom prst="rect">
            <a:avLst/>
          </a:prstGeom>
          <a:solidFill>
            <a:srgbClr val="7A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913880" y="4535424"/>
            <a:ext cx="184150" cy="125222"/>
          </a:xfrm>
          <a:prstGeom prst="rect">
            <a:avLst/>
          </a:prstGeom>
          <a:solidFill>
            <a:srgbClr val="A0B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091680" y="4535424"/>
            <a:ext cx="184150" cy="125222"/>
          </a:xfrm>
          <a:prstGeom prst="rect">
            <a:avLst/>
          </a:prstGeom>
          <a:solidFill>
            <a:srgbClr val="97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68680" y="4654296"/>
            <a:ext cx="184150" cy="125222"/>
          </a:xfrm>
          <a:prstGeom prst="rect">
            <a:avLst/>
          </a:prstGeom>
          <a:solidFill>
            <a:srgbClr val="DD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46480" y="4654296"/>
            <a:ext cx="184150" cy="125222"/>
          </a:xfrm>
          <a:prstGeom prst="rect">
            <a:avLst/>
          </a:prstGeom>
          <a:solidFill>
            <a:srgbClr val="D0D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224280" y="4654296"/>
            <a:ext cx="184150" cy="125222"/>
          </a:xfrm>
          <a:prstGeom prst="rect">
            <a:avLst/>
          </a:prstGeom>
          <a:solidFill>
            <a:srgbClr val="A1B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402080" y="4654296"/>
            <a:ext cx="184150" cy="125222"/>
          </a:xfrm>
          <a:prstGeom prst="rect">
            <a:avLst/>
          </a:prstGeom>
          <a:solidFill>
            <a:srgbClr val="A7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579880" y="4654296"/>
            <a:ext cx="184150" cy="125222"/>
          </a:xfrm>
          <a:prstGeom prst="rect">
            <a:avLst/>
          </a:prstGeom>
          <a:solidFill>
            <a:srgbClr val="A9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757680" y="4654296"/>
            <a:ext cx="184150" cy="125222"/>
          </a:xfrm>
          <a:prstGeom prst="rect">
            <a:avLst/>
          </a:prstGeom>
          <a:solidFill>
            <a:srgbClr val="99B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935480" y="4654296"/>
            <a:ext cx="184150" cy="125222"/>
          </a:xfrm>
          <a:prstGeom prst="rect">
            <a:avLst/>
          </a:prstGeom>
          <a:solidFill>
            <a:srgbClr val="91B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2113280" y="4654296"/>
            <a:ext cx="184150" cy="125222"/>
          </a:xfrm>
          <a:prstGeom prst="rect">
            <a:avLst/>
          </a:prstGeom>
          <a:solidFill>
            <a:srgbClr val="C4D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291080" y="4654296"/>
            <a:ext cx="184150" cy="125222"/>
          </a:xfrm>
          <a:prstGeom prst="rect">
            <a:avLst/>
          </a:prstGeom>
          <a:solidFill>
            <a:srgbClr val="86A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468880" y="4654296"/>
            <a:ext cx="184150" cy="125222"/>
          </a:xfrm>
          <a:prstGeom prst="rect">
            <a:avLst/>
          </a:prstGeom>
          <a:solidFill>
            <a:srgbClr val="99B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646680" y="4654296"/>
            <a:ext cx="184150" cy="125222"/>
          </a:xfrm>
          <a:prstGeom prst="rect">
            <a:avLst/>
          </a:prstGeom>
          <a:solidFill>
            <a:srgbClr val="9EB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824480" y="4654296"/>
            <a:ext cx="184150" cy="125222"/>
          </a:xfrm>
          <a:prstGeom prst="rect">
            <a:avLst/>
          </a:prstGeom>
          <a:solidFill>
            <a:srgbClr val="B4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3002280" y="4654296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3180080" y="4654296"/>
            <a:ext cx="184150" cy="125222"/>
          </a:xfrm>
          <a:prstGeom prst="rect">
            <a:avLst/>
          </a:prstGeom>
          <a:solidFill>
            <a:srgbClr val="D8E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3357880" y="4654296"/>
            <a:ext cx="184150" cy="125222"/>
          </a:xfrm>
          <a:prstGeom prst="rect">
            <a:avLst/>
          </a:prstGeom>
          <a:solidFill>
            <a:srgbClr val="AE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3535680" y="4654296"/>
            <a:ext cx="184150" cy="125222"/>
          </a:xfrm>
          <a:prstGeom prst="rect">
            <a:avLst/>
          </a:prstGeom>
          <a:solidFill>
            <a:srgbClr val="C9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3713480" y="4654296"/>
            <a:ext cx="184150" cy="125222"/>
          </a:xfrm>
          <a:prstGeom prst="rect">
            <a:avLst/>
          </a:prstGeom>
          <a:solidFill>
            <a:srgbClr val="8EA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3891280" y="4654296"/>
            <a:ext cx="184150" cy="125222"/>
          </a:xfrm>
          <a:prstGeom prst="rect">
            <a:avLst/>
          </a:prstGeom>
          <a:solidFill>
            <a:srgbClr val="84A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4069080" y="4654296"/>
            <a:ext cx="184150" cy="125222"/>
          </a:xfrm>
          <a:prstGeom prst="rect">
            <a:avLst/>
          </a:prstGeom>
          <a:solidFill>
            <a:srgbClr val="89A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4246880" y="4654296"/>
            <a:ext cx="184150" cy="125222"/>
          </a:xfrm>
          <a:prstGeom prst="rect">
            <a:avLst/>
          </a:prstGeom>
          <a:solidFill>
            <a:srgbClr val="84A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4424680" y="4654296"/>
            <a:ext cx="184150" cy="125222"/>
          </a:xfrm>
          <a:prstGeom prst="rect">
            <a:avLst/>
          </a:prstGeom>
          <a:solidFill>
            <a:srgbClr val="95B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4602480" y="4654296"/>
            <a:ext cx="184150" cy="125222"/>
          </a:xfrm>
          <a:prstGeom prst="rect">
            <a:avLst/>
          </a:prstGeom>
          <a:solidFill>
            <a:srgbClr val="85A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780280" y="4654296"/>
            <a:ext cx="184150" cy="125222"/>
          </a:xfrm>
          <a:prstGeom prst="rect">
            <a:avLst/>
          </a:prstGeom>
          <a:solidFill>
            <a:srgbClr val="8CA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4958080" y="4654296"/>
            <a:ext cx="184150" cy="125222"/>
          </a:xfrm>
          <a:prstGeom prst="rect">
            <a:avLst/>
          </a:prstGeom>
          <a:solidFill>
            <a:srgbClr val="A7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5135880" y="4654296"/>
            <a:ext cx="184150" cy="125222"/>
          </a:xfrm>
          <a:prstGeom prst="rect">
            <a:avLst/>
          </a:prstGeom>
          <a:solidFill>
            <a:srgbClr val="B3C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5313680" y="4654296"/>
            <a:ext cx="184150" cy="125222"/>
          </a:xfrm>
          <a:prstGeom prst="rect">
            <a:avLst/>
          </a:prstGeom>
          <a:solidFill>
            <a:srgbClr val="D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5491480" y="4654296"/>
            <a:ext cx="184150" cy="125222"/>
          </a:xfrm>
          <a:prstGeom prst="rect">
            <a:avLst/>
          </a:prstGeom>
          <a:solidFill>
            <a:srgbClr val="D1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669280" y="4654296"/>
            <a:ext cx="184150" cy="125222"/>
          </a:xfrm>
          <a:prstGeom prst="rect">
            <a:avLst/>
          </a:prstGeom>
          <a:solidFill>
            <a:srgbClr val="A9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5847080" y="4654296"/>
            <a:ext cx="184150" cy="125222"/>
          </a:xfrm>
          <a:prstGeom prst="rect">
            <a:avLst/>
          </a:prstGeom>
          <a:solidFill>
            <a:srgbClr val="AF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6024880" y="4654296"/>
            <a:ext cx="184150" cy="125222"/>
          </a:xfrm>
          <a:prstGeom prst="rect">
            <a:avLst/>
          </a:prstGeom>
          <a:solidFill>
            <a:srgbClr val="C8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202680" y="4654296"/>
            <a:ext cx="184150" cy="125222"/>
          </a:xfrm>
          <a:prstGeom prst="rect">
            <a:avLst/>
          </a:prstGeom>
          <a:solidFill>
            <a:srgbClr val="B7C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380480" y="4654296"/>
            <a:ext cx="184150" cy="125222"/>
          </a:xfrm>
          <a:prstGeom prst="rect">
            <a:avLst/>
          </a:prstGeom>
          <a:solidFill>
            <a:srgbClr val="AC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6558280" y="4654296"/>
            <a:ext cx="184150" cy="125222"/>
          </a:xfrm>
          <a:prstGeom prst="rect">
            <a:avLst/>
          </a:prstGeom>
          <a:solidFill>
            <a:srgbClr val="ABC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6736080" y="4654296"/>
            <a:ext cx="184150" cy="125222"/>
          </a:xfrm>
          <a:prstGeom prst="rect">
            <a:avLst/>
          </a:prstGeom>
          <a:solidFill>
            <a:srgbClr val="C3D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6913880" y="4654296"/>
            <a:ext cx="184150" cy="125222"/>
          </a:xfrm>
          <a:prstGeom prst="rect">
            <a:avLst/>
          </a:prstGeom>
          <a:solidFill>
            <a:srgbClr val="92B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7091680" y="4654296"/>
            <a:ext cx="184150" cy="125222"/>
          </a:xfrm>
          <a:prstGeom prst="rect">
            <a:avLst/>
          </a:prstGeom>
          <a:solidFill>
            <a:srgbClr val="93B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68680" y="4773168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46480" y="4773168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224280" y="4773168"/>
            <a:ext cx="184150" cy="125222"/>
          </a:xfrm>
          <a:prstGeom prst="rect">
            <a:avLst/>
          </a:prstGeom>
          <a:solidFill>
            <a:srgbClr val="C4D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402080" y="4773168"/>
            <a:ext cx="184150" cy="125222"/>
          </a:xfrm>
          <a:prstGeom prst="rect">
            <a:avLst/>
          </a:prstGeom>
          <a:solidFill>
            <a:srgbClr val="C4D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579880" y="4773168"/>
            <a:ext cx="184150" cy="125222"/>
          </a:xfrm>
          <a:prstGeom prst="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757680" y="4773168"/>
            <a:ext cx="184150" cy="125222"/>
          </a:xfrm>
          <a:prstGeom prst="rect">
            <a:avLst/>
          </a:prstGeom>
          <a:solidFill>
            <a:srgbClr val="CFD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935480" y="4773168"/>
            <a:ext cx="184150" cy="125222"/>
          </a:xfrm>
          <a:prstGeom prst="rect">
            <a:avLst/>
          </a:prstGeom>
          <a:solidFill>
            <a:srgbClr val="D3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2113280" y="4773168"/>
            <a:ext cx="184150" cy="125222"/>
          </a:xfrm>
          <a:prstGeom prst="rect">
            <a:avLst/>
          </a:prstGeom>
          <a:solidFill>
            <a:srgbClr val="C7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2291080" y="4773168"/>
            <a:ext cx="184150" cy="125222"/>
          </a:xfrm>
          <a:prstGeom prst="rect">
            <a:avLst/>
          </a:prstGeom>
          <a:solidFill>
            <a:srgbClr val="BCD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2468880" y="4773168"/>
            <a:ext cx="184150" cy="125222"/>
          </a:xfrm>
          <a:prstGeom prst="rect">
            <a:avLst/>
          </a:prstGeom>
          <a:solidFill>
            <a:srgbClr val="C8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646680" y="4773168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2824480" y="4773168"/>
            <a:ext cx="184150" cy="125222"/>
          </a:xfrm>
          <a:prstGeom prst="rect">
            <a:avLst/>
          </a:prstGeom>
          <a:solidFill>
            <a:srgbClr val="C9D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002280" y="4773168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3180080" y="4773168"/>
            <a:ext cx="184150" cy="125222"/>
          </a:xfrm>
          <a:prstGeom prst="rect">
            <a:avLst/>
          </a:prstGeom>
          <a:solidFill>
            <a:srgbClr val="C2D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357880" y="4773168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3535680" y="4773168"/>
            <a:ext cx="184150" cy="125222"/>
          </a:xfrm>
          <a:prstGeom prst="rect">
            <a:avLst/>
          </a:prstGeom>
          <a:solidFill>
            <a:srgbClr val="BED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713480" y="4773168"/>
            <a:ext cx="184150" cy="125222"/>
          </a:xfrm>
          <a:prstGeom prst="rect">
            <a:avLst/>
          </a:prstGeom>
          <a:solidFill>
            <a:srgbClr val="C6D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891280" y="4773168"/>
            <a:ext cx="184150" cy="125222"/>
          </a:xfrm>
          <a:prstGeom prst="rect">
            <a:avLst/>
          </a:prstGeom>
          <a:solidFill>
            <a:srgbClr val="D3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4069080" y="4773168"/>
            <a:ext cx="184150" cy="125222"/>
          </a:xfrm>
          <a:prstGeom prst="rect">
            <a:avLst/>
          </a:prstGeom>
          <a:solidFill>
            <a:srgbClr val="DA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4246880" y="4773168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424680" y="4773168"/>
            <a:ext cx="184150" cy="125222"/>
          </a:xfrm>
          <a:prstGeom prst="rect">
            <a:avLst/>
          </a:prstGeom>
          <a:solidFill>
            <a:srgbClr val="D2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602480" y="4773168"/>
            <a:ext cx="184150" cy="125222"/>
          </a:xfrm>
          <a:prstGeom prst="rect">
            <a:avLst/>
          </a:prstGeom>
          <a:solidFill>
            <a:srgbClr val="CDD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780280" y="4773168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4958080" y="4773168"/>
            <a:ext cx="184150" cy="125222"/>
          </a:xfrm>
          <a:prstGeom prst="rect">
            <a:avLst/>
          </a:prstGeom>
          <a:solidFill>
            <a:srgbClr val="CED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5135880" y="4773168"/>
            <a:ext cx="184150" cy="125222"/>
          </a:xfrm>
          <a:prstGeom prst="rect">
            <a:avLst/>
          </a:prstGeom>
          <a:solidFill>
            <a:srgbClr val="DCE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5313680" y="4773168"/>
            <a:ext cx="184150" cy="125222"/>
          </a:xfrm>
          <a:prstGeom prst="rect">
            <a:avLst/>
          </a:prstGeom>
          <a:solidFill>
            <a:srgbClr val="D2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5491480" y="4773168"/>
            <a:ext cx="184150" cy="125222"/>
          </a:xfrm>
          <a:prstGeom prst="rect">
            <a:avLst/>
          </a:prstGeom>
          <a:solidFill>
            <a:srgbClr val="D0D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5669280" y="4773168"/>
            <a:ext cx="184150" cy="125222"/>
          </a:xfrm>
          <a:prstGeom prst="rect">
            <a:avLst/>
          </a:prstGeom>
          <a:solidFill>
            <a:srgbClr val="C3D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5847080" y="4773168"/>
            <a:ext cx="184150" cy="125222"/>
          </a:xfrm>
          <a:prstGeom prst="rect">
            <a:avLst/>
          </a:prstGeom>
          <a:solidFill>
            <a:srgbClr val="CFD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024880" y="4773168"/>
            <a:ext cx="184150" cy="125222"/>
          </a:xfrm>
          <a:prstGeom prst="rect">
            <a:avLst/>
          </a:prstGeom>
          <a:solidFill>
            <a:srgbClr val="D4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202680" y="4773168"/>
            <a:ext cx="184150" cy="125222"/>
          </a:xfrm>
          <a:prstGeom prst="rect">
            <a:avLst/>
          </a:prstGeom>
          <a:solidFill>
            <a:srgbClr val="D4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6380480" y="4773168"/>
            <a:ext cx="184150" cy="125222"/>
          </a:xfrm>
          <a:prstGeom prst="rect">
            <a:avLst/>
          </a:prstGeom>
          <a:solidFill>
            <a:srgbClr val="DA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558280" y="4773168"/>
            <a:ext cx="184150" cy="125222"/>
          </a:xfrm>
          <a:prstGeom prst="rect">
            <a:avLst/>
          </a:prstGeom>
          <a:solidFill>
            <a:srgbClr val="CCD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736080" y="4773168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6913880" y="4773168"/>
            <a:ext cx="184150" cy="125222"/>
          </a:xfrm>
          <a:prstGeom prst="rect">
            <a:avLst/>
          </a:prstGeom>
          <a:solidFill>
            <a:srgbClr val="D7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091680" y="4773168"/>
            <a:ext cx="184150" cy="125222"/>
          </a:xfrm>
          <a:prstGeom prst="rect">
            <a:avLst/>
          </a:prstGeom>
          <a:solidFill>
            <a:srgbClr val="BE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68680" y="4892040"/>
            <a:ext cx="184150" cy="125222"/>
          </a:xfrm>
          <a:prstGeom prst="rect">
            <a:avLst/>
          </a:prstGeom>
          <a:solidFill>
            <a:srgbClr val="C2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46480" y="4892040"/>
            <a:ext cx="184150" cy="125222"/>
          </a:xfrm>
          <a:prstGeom prst="rect">
            <a:avLst/>
          </a:prstGeom>
          <a:solidFill>
            <a:srgbClr val="C1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224280" y="4892040"/>
            <a:ext cx="184150" cy="125222"/>
          </a:xfrm>
          <a:prstGeom prst="rect">
            <a:avLst/>
          </a:prstGeom>
          <a:solidFill>
            <a:srgbClr val="AC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402080" y="4892040"/>
            <a:ext cx="184150" cy="125222"/>
          </a:xfrm>
          <a:prstGeom prst="rect">
            <a:avLst/>
          </a:prstGeom>
          <a:solidFill>
            <a:srgbClr val="BE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579880" y="4892040"/>
            <a:ext cx="184150" cy="125222"/>
          </a:xfrm>
          <a:prstGeom prst="rect">
            <a:avLst/>
          </a:prstGeom>
          <a:solidFill>
            <a:srgbClr val="C6D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757680" y="4892040"/>
            <a:ext cx="184150" cy="125222"/>
          </a:xfrm>
          <a:prstGeom prst="rect">
            <a:avLst/>
          </a:prstGeom>
          <a:solidFill>
            <a:srgbClr val="94B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935480" y="4892040"/>
            <a:ext cx="184150" cy="125222"/>
          </a:xfrm>
          <a:prstGeom prst="rect">
            <a:avLst/>
          </a:prstGeom>
          <a:solidFill>
            <a:srgbClr val="B7C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2113280" y="4892040"/>
            <a:ext cx="184150" cy="125222"/>
          </a:xfrm>
          <a:prstGeom prst="rect">
            <a:avLst/>
          </a:prstGeom>
          <a:solidFill>
            <a:srgbClr val="BDD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291080" y="4892040"/>
            <a:ext cx="184150" cy="125222"/>
          </a:xfrm>
          <a:prstGeom prst="rect">
            <a:avLst/>
          </a:prstGeom>
          <a:solidFill>
            <a:srgbClr val="C0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468880" y="4892040"/>
            <a:ext cx="184150" cy="125222"/>
          </a:xfrm>
          <a:prstGeom prst="rect">
            <a:avLst/>
          </a:prstGeom>
          <a:solidFill>
            <a:srgbClr val="9CB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2646680" y="4892040"/>
            <a:ext cx="184150" cy="125222"/>
          </a:xfrm>
          <a:prstGeom prst="rect">
            <a:avLst/>
          </a:prstGeom>
          <a:solidFill>
            <a:srgbClr val="9FB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824480" y="4892040"/>
            <a:ext cx="184150" cy="125222"/>
          </a:xfrm>
          <a:prstGeom prst="rect">
            <a:avLst/>
          </a:prstGeom>
          <a:solidFill>
            <a:srgbClr val="B2C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002280" y="4892040"/>
            <a:ext cx="184150" cy="125222"/>
          </a:xfrm>
          <a:prstGeom prst="rect">
            <a:avLst/>
          </a:prstGeom>
          <a:solidFill>
            <a:srgbClr val="C3D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180080" y="4892040"/>
            <a:ext cx="184150" cy="125222"/>
          </a:xfrm>
          <a:prstGeom prst="rect">
            <a:avLst/>
          </a:prstGeom>
          <a:solidFill>
            <a:srgbClr val="D9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357880" y="4892040"/>
            <a:ext cx="184150" cy="125222"/>
          </a:xfrm>
          <a:prstGeom prst="rect">
            <a:avLst/>
          </a:prstGeom>
          <a:solidFill>
            <a:srgbClr val="C0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3535680" y="4892040"/>
            <a:ext cx="184150" cy="125222"/>
          </a:xfrm>
          <a:prstGeom prst="rect">
            <a:avLst/>
          </a:prstGeom>
          <a:solidFill>
            <a:srgbClr val="98B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3713480" y="4892040"/>
            <a:ext cx="184150" cy="125222"/>
          </a:xfrm>
          <a:prstGeom prst="rect">
            <a:avLst/>
          </a:prstGeom>
          <a:solidFill>
            <a:srgbClr val="8DA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3891280" y="4892040"/>
            <a:ext cx="184150" cy="125222"/>
          </a:xfrm>
          <a:prstGeom prst="rect">
            <a:avLst/>
          </a:prstGeom>
          <a:solidFill>
            <a:srgbClr val="9FB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069080" y="4892040"/>
            <a:ext cx="184150" cy="125222"/>
          </a:xfrm>
          <a:prstGeom prst="rect">
            <a:avLst/>
          </a:prstGeom>
          <a:solidFill>
            <a:srgbClr val="8AA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4246880" y="4892040"/>
            <a:ext cx="184150" cy="125222"/>
          </a:xfrm>
          <a:prstGeom prst="rect">
            <a:avLst/>
          </a:prstGeom>
          <a:solidFill>
            <a:srgbClr val="7C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4424680" y="4892040"/>
            <a:ext cx="184150" cy="125222"/>
          </a:xfrm>
          <a:prstGeom prst="rect">
            <a:avLst/>
          </a:prstGeom>
          <a:solidFill>
            <a:srgbClr val="B9C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4602480" y="4892040"/>
            <a:ext cx="184150" cy="125222"/>
          </a:xfrm>
          <a:prstGeom prst="rect">
            <a:avLst/>
          </a:prstGeom>
          <a:solidFill>
            <a:srgbClr val="93B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4780280" y="4892040"/>
            <a:ext cx="184150" cy="125222"/>
          </a:xfrm>
          <a:prstGeom prst="rect">
            <a:avLst/>
          </a:prstGeom>
          <a:solidFill>
            <a:srgbClr val="8CA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4958080" y="4892040"/>
            <a:ext cx="184150" cy="125222"/>
          </a:xfrm>
          <a:prstGeom prst="rect">
            <a:avLst/>
          </a:prstGeom>
          <a:solidFill>
            <a:srgbClr val="A7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5135880" y="4892040"/>
            <a:ext cx="184150" cy="125222"/>
          </a:xfrm>
          <a:prstGeom prst="rect">
            <a:avLst/>
          </a:prstGeom>
          <a:solidFill>
            <a:srgbClr val="BCD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5313680" y="4892040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5491480" y="4892040"/>
            <a:ext cx="184150" cy="125222"/>
          </a:xfrm>
          <a:prstGeom prst="rect">
            <a:avLst/>
          </a:prstGeom>
          <a:solidFill>
            <a:srgbClr val="BCD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5669280" y="4892040"/>
            <a:ext cx="184150" cy="125222"/>
          </a:xfrm>
          <a:prstGeom prst="rect">
            <a:avLst/>
          </a:prstGeom>
          <a:solidFill>
            <a:srgbClr val="D9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5847080" y="4892040"/>
            <a:ext cx="184150" cy="125222"/>
          </a:xfrm>
          <a:prstGeom prst="rect">
            <a:avLst/>
          </a:prstGeom>
          <a:solidFill>
            <a:srgbClr val="A3B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6024880" y="4892040"/>
            <a:ext cx="184150" cy="125222"/>
          </a:xfrm>
          <a:prstGeom prst="rect">
            <a:avLst/>
          </a:prstGeom>
          <a:solidFill>
            <a:srgbClr val="BBC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6202680" y="4892040"/>
            <a:ext cx="184150" cy="125222"/>
          </a:xfrm>
          <a:prstGeom prst="rect">
            <a:avLst/>
          </a:prstGeom>
          <a:solidFill>
            <a:srgbClr val="BF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6380480" y="4892040"/>
            <a:ext cx="184150" cy="125222"/>
          </a:xfrm>
          <a:prstGeom prst="rect">
            <a:avLst/>
          </a:prstGeom>
          <a:solidFill>
            <a:srgbClr val="8CA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6558280" y="4892040"/>
            <a:ext cx="184150" cy="125222"/>
          </a:xfrm>
          <a:prstGeom prst="rect">
            <a:avLst/>
          </a:prstGeom>
          <a:solidFill>
            <a:srgbClr val="8DA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6736080" y="4892040"/>
            <a:ext cx="184150" cy="125222"/>
          </a:xfrm>
          <a:prstGeom prst="rect">
            <a:avLst/>
          </a:prstGeom>
          <a:solidFill>
            <a:srgbClr val="BE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6913880" y="4892040"/>
            <a:ext cx="184150" cy="125222"/>
          </a:xfrm>
          <a:prstGeom prst="rect">
            <a:avLst/>
          </a:prstGeom>
          <a:solidFill>
            <a:srgbClr val="B7C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7091680" y="4892040"/>
            <a:ext cx="184150" cy="125222"/>
          </a:xfrm>
          <a:prstGeom prst="rect">
            <a:avLst/>
          </a:prstGeom>
          <a:solidFill>
            <a:srgbClr val="99B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868680" y="5010912"/>
            <a:ext cx="184150" cy="125222"/>
          </a:xfrm>
          <a:prstGeom prst="rect">
            <a:avLst/>
          </a:prstGeom>
          <a:solidFill>
            <a:srgbClr val="CA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6480" y="5010912"/>
            <a:ext cx="184150" cy="125222"/>
          </a:xfrm>
          <a:prstGeom prst="rect">
            <a:avLst/>
          </a:prstGeom>
          <a:solidFill>
            <a:srgbClr val="A7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224280" y="5010912"/>
            <a:ext cx="184150" cy="125222"/>
          </a:xfrm>
          <a:prstGeom prst="rect">
            <a:avLst/>
          </a:prstGeom>
          <a:solidFill>
            <a:srgbClr val="C1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402080" y="5010912"/>
            <a:ext cx="184150" cy="125222"/>
          </a:xfrm>
          <a:prstGeom prst="rect">
            <a:avLst/>
          </a:prstGeom>
          <a:solidFill>
            <a:srgbClr val="9B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579880" y="5010912"/>
            <a:ext cx="184150" cy="125222"/>
          </a:xfrm>
          <a:prstGeom prst="rect">
            <a:avLst/>
          </a:prstGeom>
          <a:solidFill>
            <a:srgbClr val="4F7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757680" y="5010912"/>
            <a:ext cx="184150" cy="125222"/>
          </a:xfrm>
          <a:prstGeom prst="rect">
            <a:avLst/>
          </a:prstGeom>
          <a:solidFill>
            <a:srgbClr val="769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935480" y="5010912"/>
            <a:ext cx="184150" cy="125222"/>
          </a:xfrm>
          <a:prstGeom prst="rect">
            <a:avLst/>
          </a:prstGeom>
          <a:solidFill>
            <a:srgbClr val="7B9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2113280" y="5010912"/>
            <a:ext cx="184150" cy="125222"/>
          </a:xfrm>
          <a:prstGeom prst="rect">
            <a:avLst/>
          </a:prstGeom>
          <a:solidFill>
            <a:srgbClr val="638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2291080" y="5010912"/>
            <a:ext cx="184150" cy="125222"/>
          </a:xfrm>
          <a:prstGeom prst="rect">
            <a:avLst/>
          </a:prstGeom>
          <a:solidFill>
            <a:srgbClr val="558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2468880" y="5010912"/>
            <a:ext cx="184150" cy="125222"/>
          </a:xfrm>
          <a:prstGeom prst="rect">
            <a:avLst/>
          </a:prstGeom>
          <a:solidFill>
            <a:srgbClr val="799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2646680" y="5010912"/>
            <a:ext cx="184150" cy="125222"/>
          </a:xfrm>
          <a:prstGeom prst="rect">
            <a:avLst/>
          </a:prstGeom>
          <a:solidFill>
            <a:srgbClr val="72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2824480" y="5010912"/>
            <a:ext cx="184150" cy="125222"/>
          </a:xfrm>
          <a:prstGeom prst="rect">
            <a:avLst/>
          </a:prstGeom>
          <a:solidFill>
            <a:srgbClr val="88A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3002280" y="5010912"/>
            <a:ext cx="184150" cy="125222"/>
          </a:xfrm>
          <a:prstGeom prst="rect">
            <a:avLst/>
          </a:prstGeom>
          <a:solidFill>
            <a:srgbClr val="D7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3180080" y="5010912"/>
            <a:ext cx="184150" cy="125222"/>
          </a:xfrm>
          <a:prstGeom prst="rect">
            <a:avLst/>
          </a:prstGeom>
          <a:solidFill>
            <a:srgbClr val="CCD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3357880" y="5010912"/>
            <a:ext cx="184150" cy="125222"/>
          </a:xfrm>
          <a:prstGeom prst="rect">
            <a:avLst/>
          </a:prstGeom>
          <a:solidFill>
            <a:srgbClr val="B2C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3535680" y="5010912"/>
            <a:ext cx="184150" cy="125222"/>
          </a:xfrm>
          <a:prstGeom prst="rect">
            <a:avLst/>
          </a:prstGeom>
          <a:solidFill>
            <a:srgbClr val="71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3713480" y="5010912"/>
            <a:ext cx="184150" cy="125222"/>
          </a:xfrm>
          <a:prstGeom prst="rect">
            <a:avLst/>
          </a:prstGeom>
          <a:solidFill>
            <a:srgbClr val="7DA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3891280" y="5010912"/>
            <a:ext cx="184150" cy="125222"/>
          </a:xfrm>
          <a:prstGeom prst="rect">
            <a:avLst/>
          </a:prstGeom>
          <a:solidFill>
            <a:srgbClr val="467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4069080" y="5010912"/>
            <a:ext cx="184150" cy="125222"/>
          </a:xfrm>
          <a:prstGeom prst="rect">
            <a:avLst/>
          </a:prstGeom>
          <a:solidFill>
            <a:srgbClr val="3D7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4246880" y="5010912"/>
            <a:ext cx="184150" cy="125222"/>
          </a:xfrm>
          <a:prstGeom prst="rect">
            <a:avLst/>
          </a:prstGeom>
          <a:solidFill>
            <a:srgbClr val="6B9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4424680" y="5010912"/>
            <a:ext cx="184150" cy="125222"/>
          </a:xfrm>
          <a:prstGeom prst="rect">
            <a:avLst/>
          </a:prstGeom>
          <a:solidFill>
            <a:srgbClr val="6E9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4602480" y="5010912"/>
            <a:ext cx="184150" cy="125222"/>
          </a:xfrm>
          <a:prstGeom prst="rect">
            <a:avLst/>
          </a:prstGeom>
          <a:solidFill>
            <a:srgbClr val="799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4780280" y="5010912"/>
            <a:ext cx="184150" cy="125222"/>
          </a:xfrm>
          <a:prstGeom prst="rect">
            <a:avLst/>
          </a:prstGeom>
          <a:solidFill>
            <a:srgbClr val="94B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4958080" y="5010912"/>
            <a:ext cx="184150" cy="125222"/>
          </a:xfrm>
          <a:prstGeom prst="rect">
            <a:avLst/>
          </a:prstGeom>
          <a:solidFill>
            <a:srgbClr val="96B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135880" y="5010912"/>
            <a:ext cx="184150" cy="125222"/>
          </a:xfrm>
          <a:prstGeom prst="rect">
            <a:avLst/>
          </a:prstGeom>
          <a:solidFill>
            <a:srgbClr val="D2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5313680" y="5010912"/>
            <a:ext cx="184150" cy="125222"/>
          </a:xfrm>
          <a:prstGeom prst="rect">
            <a:avLst/>
          </a:prstGeom>
          <a:solidFill>
            <a:srgbClr val="DE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5491480" y="5010912"/>
            <a:ext cx="184150" cy="125222"/>
          </a:xfrm>
          <a:prstGeom prst="rect">
            <a:avLst/>
          </a:prstGeom>
          <a:solidFill>
            <a:srgbClr val="AAC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5669280" y="5010912"/>
            <a:ext cx="184150" cy="125222"/>
          </a:xfrm>
          <a:prstGeom prst="rect">
            <a:avLst/>
          </a:prstGeom>
          <a:solidFill>
            <a:srgbClr val="C6D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5847080" y="5010912"/>
            <a:ext cx="184150" cy="125222"/>
          </a:xfrm>
          <a:prstGeom prst="rect">
            <a:avLst/>
          </a:prstGeom>
          <a:solidFill>
            <a:srgbClr val="7B9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6024880" y="5010912"/>
            <a:ext cx="184150" cy="125222"/>
          </a:xfrm>
          <a:prstGeom prst="rect">
            <a:avLst/>
          </a:prstGeom>
          <a:solidFill>
            <a:srgbClr val="6B9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6202680" y="5010912"/>
            <a:ext cx="184150" cy="125222"/>
          </a:xfrm>
          <a:prstGeom prst="rect">
            <a:avLst/>
          </a:prstGeom>
          <a:solidFill>
            <a:srgbClr val="648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6380480" y="5010912"/>
            <a:ext cx="184150" cy="125222"/>
          </a:xfrm>
          <a:prstGeom prst="rect">
            <a:avLst/>
          </a:prstGeom>
          <a:solidFill>
            <a:srgbClr val="759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6558280" y="5010912"/>
            <a:ext cx="184150" cy="125222"/>
          </a:xfrm>
          <a:prstGeom prst="rect">
            <a:avLst/>
          </a:prstGeom>
          <a:solidFill>
            <a:srgbClr val="4F7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6736080" y="5010912"/>
            <a:ext cx="184150" cy="125222"/>
          </a:xfrm>
          <a:prstGeom prst="rect">
            <a:avLst/>
          </a:prstGeom>
          <a:solidFill>
            <a:srgbClr val="81A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6913880" y="5010912"/>
            <a:ext cx="184150" cy="125222"/>
          </a:xfrm>
          <a:prstGeom prst="rect">
            <a:avLst/>
          </a:prstGeom>
          <a:solidFill>
            <a:srgbClr val="72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7091680" y="5010912"/>
            <a:ext cx="184150" cy="125222"/>
          </a:xfrm>
          <a:prstGeom prst="rect">
            <a:avLst/>
          </a:prstGeom>
          <a:solidFill>
            <a:srgbClr val="8EA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ounded Rectangle 390"/>
          <p:cNvSpPr/>
          <p:nvPr/>
        </p:nvSpPr>
        <p:spPr>
          <a:xfrm>
            <a:off x="731520" y="5486400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914400" y="5559552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◆  识别结果  (Prediction)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914400" y="5852160"/>
            <a:ext cx="3200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类别：4PSK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3429000" y="5852160"/>
            <a:ext cx="2743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B703"/>
                </a:solidFill>
                <a:latin typeface="Calibri"/>
                <a:eastAsia typeface="Calibri"/>
                <a:cs typeface="Calibri"/>
                <a:ascii typeface="Calibri"/>
              </a:rPr>
              <a:t>置信度：93.8 %</a:t>
            </a:r>
          </a:p>
        </p:txBody>
      </p:sp>
      <p:sp>
        <p:nvSpPr>
          <p:cNvPr id="395" name="Rounded Rectangle 394"/>
          <p:cNvSpPr/>
          <p:nvPr/>
        </p:nvSpPr>
        <p:spPr>
          <a:xfrm>
            <a:off x="5166360" y="5760720"/>
            <a:ext cx="713232" cy="502920"/>
          </a:xfrm>
          <a:prstGeom prst="roundRect">
            <a:avLst>
              <a:gd name="adj" fmla="val 4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5166360" y="5760720"/>
            <a:ext cx="713232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加载</a:t>
            </a:r>
          </a:p>
        </p:txBody>
      </p:sp>
      <p:sp>
        <p:nvSpPr>
          <p:cNvPr id="397" name="Rounded Rectangle 396"/>
          <p:cNvSpPr/>
          <p:nvPr/>
        </p:nvSpPr>
        <p:spPr>
          <a:xfrm>
            <a:off x="5943600" y="5760720"/>
            <a:ext cx="713232" cy="502920"/>
          </a:xfrm>
          <a:prstGeom prst="roundRect">
            <a:avLst>
              <a:gd name="adj" fmla="val 4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5943600" y="5760720"/>
            <a:ext cx="713232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识别</a:t>
            </a:r>
          </a:p>
        </p:txBody>
      </p:sp>
      <p:sp>
        <p:nvSpPr>
          <p:cNvPr id="399" name="Rounded Rectangle 398"/>
          <p:cNvSpPr/>
          <p:nvPr/>
        </p:nvSpPr>
        <p:spPr>
          <a:xfrm>
            <a:off x="6720840" y="5760720"/>
            <a:ext cx="713232" cy="502920"/>
          </a:xfrm>
          <a:prstGeom prst="roundRect">
            <a:avLst>
              <a:gd name="adj" fmla="val 40000"/>
            </a:avLst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6720840" y="5760720"/>
            <a:ext cx="713232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停止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502920" y="6537960"/>
            <a:ext cx="7132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图 3-1  设计的树莓派 UI 界面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7863840" y="1143000"/>
            <a:ext cx="43434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UI  COMPONENTS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7863840" y="1508760"/>
            <a:ext cx="4343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界面功能划分</a:t>
            </a:r>
          </a:p>
        </p:txBody>
      </p:sp>
      <p:sp>
        <p:nvSpPr>
          <p:cNvPr id="404" name="Rounded Rectangle 403"/>
          <p:cNvSpPr/>
          <p:nvPr/>
        </p:nvSpPr>
        <p:spPr>
          <a:xfrm>
            <a:off x="7863840" y="2194560"/>
            <a:ext cx="4343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ounded Rectangle 404"/>
          <p:cNvSpPr/>
          <p:nvPr/>
        </p:nvSpPr>
        <p:spPr>
          <a:xfrm>
            <a:off x="7863840" y="2194560"/>
            <a:ext cx="109728" cy="960120"/>
          </a:xfrm>
          <a:prstGeom prst="roundRect">
            <a:avLst>
              <a:gd name="adj" fmla="val 4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8138160" y="2286000"/>
            <a:ext cx="3886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波形显示区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8138160" y="2651760"/>
            <a:ext cx="3886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实时绘制 4096 点输入波形，便于观察输入信号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7863840" y="3273552"/>
            <a:ext cx="4343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ounded Rectangle 408"/>
          <p:cNvSpPr/>
          <p:nvPr/>
        </p:nvSpPr>
        <p:spPr>
          <a:xfrm>
            <a:off x="7863840" y="3273552"/>
            <a:ext cx="109728" cy="960120"/>
          </a:xfrm>
          <a:prstGeom prst="roundRect">
            <a:avLst>
              <a:gd name="adj" fmla="val 4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8138160" y="3364992"/>
            <a:ext cx="3886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时频谱图区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8138160" y="3730752"/>
            <a:ext cx="3886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可视化 STFT 谱图，辅助判断频率/时间结构</a:t>
            </a:r>
          </a:p>
        </p:txBody>
      </p:sp>
      <p:sp>
        <p:nvSpPr>
          <p:cNvPr id="412" name="Rounded Rectangle 411"/>
          <p:cNvSpPr/>
          <p:nvPr/>
        </p:nvSpPr>
        <p:spPr>
          <a:xfrm>
            <a:off x="7863840" y="4352544"/>
            <a:ext cx="4343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ounded Rectangle 412"/>
          <p:cNvSpPr/>
          <p:nvPr/>
        </p:nvSpPr>
        <p:spPr>
          <a:xfrm>
            <a:off x="7863840" y="4352544"/>
            <a:ext cx="109728" cy="960120"/>
          </a:xfrm>
          <a:prstGeom prst="roundRect">
            <a:avLst>
              <a:gd name="adj" fmla="val 40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138160" y="4443984"/>
            <a:ext cx="3886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识别结果区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8138160" y="4809744"/>
            <a:ext cx="3886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输出当前类别与置信度，支持 Top-K 显示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7863840" y="5431536"/>
            <a:ext cx="4343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ounded Rectangle 416"/>
          <p:cNvSpPr/>
          <p:nvPr/>
        </p:nvSpPr>
        <p:spPr>
          <a:xfrm>
            <a:off x="7863840" y="5431536"/>
            <a:ext cx="109728" cy="960120"/>
          </a:xfrm>
          <a:prstGeom prst="roundRect">
            <a:avLst>
              <a:gd name="adj" fmla="val 4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138160" y="5522976"/>
            <a:ext cx="3886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控制按钮区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8138160" y="5888736"/>
            <a:ext cx="3886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加载、识别、停止等基本交互操作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57200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926080"/>
            <a:ext cx="164592" cy="118872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834640"/>
            <a:ext cx="640080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项目原理分析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703320"/>
            <a:ext cx="6400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Principle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6217920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—  THESIS  DEFENSE  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原理分析：信道 · 时频变换 · 深度模型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03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项目原理分析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79476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794760" cy="777240"/>
          </a:xfrm>
          <a:prstGeom prst="roundRect">
            <a:avLst>
              <a:gd name="adj" fmla="val 14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794760" cy="27432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37947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水声信道特性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1097280"/>
            <a:ext cx="640080" cy="6400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0972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246120" cy="3977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声波在水中传播速度慢、带宽受限；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海面 / 海底反射 → 多径传播，时延扩展；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海洋环境噪声 + 舰船噪声 + 设备自噪声；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信号非平稳性强，频谱结构易畸变；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AWGN 模型用于可控的鲁棒性评估。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325880"/>
            <a:ext cx="379476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6552" y="1325880"/>
            <a:ext cx="3794760" cy="777240"/>
          </a:xfrm>
          <a:prstGeom prst="roundRect">
            <a:avLst>
              <a:gd name="adj" fmla="val 14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1828800"/>
            <a:ext cx="3794760" cy="274320"/>
          </a:xfrm>
          <a:prstGeom prst="rect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325880"/>
            <a:ext cx="37947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时频变换</a:t>
            </a:r>
          </a:p>
        </p:txBody>
      </p:sp>
      <p:sp>
        <p:nvSpPr>
          <p:cNvPr id="18" name="Oval 17"/>
          <p:cNvSpPr/>
          <p:nvPr/>
        </p:nvSpPr>
        <p:spPr>
          <a:xfrm>
            <a:off x="4599432" y="1097280"/>
            <a:ext cx="640080" cy="6400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10972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331720"/>
            <a:ext cx="3246120" cy="3977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滑窗短时频谱分析，刻画频率随时间演变；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X(m,k) = Σ x(n)·w(n−mH)·e^(−j2πkn/N)；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幅值通道反映能量分布，相位通道保留相位信息；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对相位调制 (PSK/QAM/OFDM) 类信号尤为重要；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得到 2×H×W 双通道张量送入 CNN 分支。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0184" y="1325880"/>
            <a:ext cx="379476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30184" y="1325880"/>
            <a:ext cx="3794760" cy="777240"/>
          </a:xfrm>
          <a:prstGeom prst="roundRect">
            <a:avLst>
              <a:gd name="adj" fmla="val 14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30184" y="1828800"/>
            <a:ext cx="3794760" cy="274320"/>
          </a:xfrm>
          <a:prstGeom prst="rect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1325880"/>
            <a:ext cx="37947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深度学习结构</a:t>
            </a:r>
          </a:p>
        </p:txBody>
      </p:sp>
      <p:sp>
        <p:nvSpPr>
          <p:cNvPr id="25" name="Oval 24"/>
          <p:cNvSpPr/>
          <p:nvPr/>
        </p:nvSpPr>
        <p:spPr>
          <a:xfrm>
            <a:off x="8513064" y="1097280"/>
            <a:ext cx="640080" cy="6400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13064" y="10972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4504" y="2331720"/>
            <a:ext cx="3246120" cy="3977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CNN：捕捉谱图局部纹理与频带结构；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ResNet：残差连接缓解深层退化，逐层抽象；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RNN/LSTM：建模时序长时依赖；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Bi-LSTM：同时利用过去与未来上下文；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▸  </a:t>
            </a: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特征层融合：拼接互补特征 → 全连接分类。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57200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926080"/>
            <a:ext cx="164592" cy="118872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834640"/>
            <a:ext cx="640080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项目方案设计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703320"/>
            <a:ext cx="6400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System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6217920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—  THESIS  DEFENSE  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总体方案：从数据到部署的端到端流程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04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项目方案设计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8740" y="1417320"/>
            <a:ext cx="548640" cy="548640"/>
          </a:xfrm>
          <a:prstGeom prst="ellipse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8740" y="1417320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1874520" cy="502920"/>
          </a:xfrm>
          <a:prstGeom prst="roundRect">
            <a:avLst>
              <a:gd name="adj" fmla="val 3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数据预处理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187452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波形截取/补零
零均值/单位方差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97480" y="2857500"/>
            <a:ext cx="256032" cy="274320"/>
          </a:xfrm>
          <a:prstGeom prst="rightArrow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53612" y="1417320"/>
            <a:ext cx="548640" cy="548640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3612" y="1417320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2" y="1828800"/>
            <a:ext cx="22402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90672" y="2057400"/>
            <a:ext cx="1874520" cy="502920"/>
          </a:xfrm>
          <a:prstGeom prst="roundRect">
            <a:avLst>
              <a:gd name="adj" fmla="val 3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205740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特征构建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2697480"/>
            <a:ext cx="187452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时域序列 + STFT
双通道幅值/相位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102352" y="2857500"/>
            <a:ext cx="256032" cy="274320"/>
          </a:xfrm>
          <a:prstGeom prst="rightArrow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58484" y="1417320"/>
            <a:ext cx="548640" cy="548640"/>
          </a:xfrm>
          <a:prstGeom prst="ellipse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8484" y="1417320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12664" y="1828800"/>
            <a:ext cx="22402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95544" y="2057400"/>
            <a:ext cx="1874520" cy="502920"/>
          </a:xfrm>
          <a:prstGeom prst="roundRect">
            <a:avLst>
              <a:gd name="adj" fmla="val 30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205740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融合网络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5544" y="2697480"/>
            <a:ext cx="187452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Bi-LSTM × ResNet-18
特征拼接 + FC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507224" y="2857500"/>
            <a:ext cx="256032" cy="274320"/>
          </a:xfrm>
          <a:prstGeom prst="rightArrow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63356" y="1417320"/>
            <a:ext cx="548640" cy="54864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3356" y="1417320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17536" y="1828800"/>
            <a:ext cx="22402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00416" y="2057400"/>
            <a:ext cx="1874520" cy="502920"/>
          </a:xfrm>
          <a:prstGeom prst="roundRect">
            <a:avLst>
              <a:gd name="adj" fmla="val 3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0416" y="205740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鲁棒性评估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0416" y="2697480"/>
            <a:ext cx="187452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AWGN 多 SNR
准确率 / 混淆矩阵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912096" y="2857500"/>
            <a:ext cx="256032" cy="274320"/>
          </a:xfrm>
          <a:prstGeom prst="rightArrow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68228" y="1417320"/>
            <a:ext cx="548640" cy="548640"/>
          </a:xfrm>
          <a:prstGeom prst="ellipse">
            <a:avLst/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68228" y="1417320"/>
            <a:ext cx="5486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22408" y="1828800"/>
            <a:ext cx="22402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05288" y="2057400"/>
            <a:ext cx="1874520" cy="502920"/>
          </a:xfrm>
          <a:prstGeom prst="roundRect">
            <a:avLst>
              <a:gd name="adj" fmla="val 30000"/>
            </a:avLst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05288" y="205740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端侧部署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5288" y="2697480"/>
            <a:ext cx="187452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ONNX 模型导出
树莓派 + Tk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434840"/>
            <a:ext cx="5760720" cy="178308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61772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B703"/>
                </a:solidFill>
                <a:latin typeface="Calibri"/>
                <a:eastAsia typeface="Calibri"/>
                <a:cs typeface="Calibri"/>
                <a:ascii typeface="Calibri"/>
              </a:rPr>
              <a:t>MAIN  IDEA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029200"/>
            <a:ext cx="50292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结合时域波形动态特征与 STFT 双通道时频纹理特征，通过特征层拼接得到互补表示，在低 SNR 下显著提升识别鲁棒性。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46520" y="4434840"/>
            <a:ext cx="5760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461772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B703"/>
                </a:solidFill>
                <a:latin typeface="Calibri"/>
                <a:eastAsia typeface="Calibri"/>
                <a:cs typeface="Calibri"/>
                <a:ascii typeface="Calibri"/>
              </a:rPr>
              <a:t>ENGINEERING 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029200"/>
            <a:ext cx="50292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300" b="0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训练得到的 PyTorch 模型导出为 ONNX 格式，在树莓派端实现轻量化推理，构建低成本水声调制识别原型。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关键设计细节与一致性保障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04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项目方案设计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确保训练阶段与部署阶段在数据预处理与特征参数上严格一致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08760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输入长度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20240"/>
            <a:ext cx="50292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训练 / 推理均统一为 4096 点固定窗口；不足补零，超出截断。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34640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归一化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46120"/>
            <a:ext cx="50292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x̃ = (x − μ) / (σ + ε)，每个样本独立完成，避免幅值尺度漂移。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60520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50292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窗长、帧移、FFT 点数固定；幅值与相位独立归一化。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532120"/>
            <a:ext cx="502920" cy="502920"/>
          </a:xfrm>
          <a:prstGeom prst="ellipse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86400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时域分支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897880"/>
            <a:ext cx="50292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Bi-LSTM + 时间均值池化 + Dropout，降低过拟合风险。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554480"/>
            <a:ext cx="19050" cy="4754880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0" y="1554480"/>
            <a:ext cx="502920" cy="502920"/>
          </a:xfrm>
          <a:prstGeom prst="ellipse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5544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508760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谱图分支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1920240"/>
            <a:ext cx="50292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ResNet-18 首层卷积输入通道改为 2，去除原分类头，输出特征向量。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2880360"/>
            <a:ext cx="502920" cy="502920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88036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834640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特征融合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246120"/>
            <a:ext cx="50292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concat([f_t, f_s]) → 全连接层 → Softmax，输出 9 类概率分布。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4206240"/>
            <a:ext cx="502920" cy="502920"/>
          </a:xfrm>
          <a:prstGeom prst="ellipse">
            <a:avLst/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2062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160520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训练监控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572000"/>
            <a:ext cx="50292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验证准确率最高的权重保存为候选模型，用于测试与部署。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5532120"/>
            <a:ext cx="502920" cy="502920"/>
          </a:xfrm>
          <a:prstGeom prst="ellipse">
            <a:avLst/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3212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486400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ONNX 导出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5897880"/>
            <a:ext cx="50292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同时构造两路输入张量，保持 shape 一致，方便嵌入式推理调用。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57200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926080"/>
            <a:ext cx="164592" cy="118872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834640"/>
            <a:ext cx="640080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研究结果与应用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703320"/>
            <a:ext cx="6400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Results &amp;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6217920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—  THESIS  DEFENSE  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对比实验：整体识别准确率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05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研究结果与应用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表 4-1  不同模型在独立测试集上的整体分类准确率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7498079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E9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6949439" cy="502920"/>
          </a:xfrm>
          <a:prstGeom prst="roundRect">
            <a:avLst>
              <a:gd name="adj" fmla="val 2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22238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6780" y="1828800"/>
            <a:ext cx="2640786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输入特征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7" y="1828800"/>
            <a:ext cx="2084831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准确率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68880"/>
            <a:ext cx="6949439" cy="640080"/>
          </a:xfrm>
          <a:prstGeom prst="roundRect">
            <a:avLst>
              <a:gd name="adj" fmla="val 1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68880"/>
            <a:ext cx="22238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 RNN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6780" y="2468880"/>
            <a:ext cx="2640786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一维时域波形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9007" y="2651760"/>
            <a:ext cx="987551" cy="274320"/>
          </a:xfrm>
          <a:prstGeom prst="roundRect">
            <a:avLst>
              <a:gd name="adj" fmla="val 40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79007" y="2651760"/>
            <a:ext cx="701161" cy="274320"/>
          </a:xfrm>
          <a:prstGeom prst="roundRect">
            <a:avLst>
              <a:gd name="adj" fmla="val 4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7999" y="2468880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71.0%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182112"/>
            <a:ext cx="694943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82112"/>
            <a:ext cx="22238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+ CNN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6780" y="3182112"/>
            <a:ext cx="2640786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幅值 + 相位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9007" y="3364992"/>
            <a:ext cx="987551" cy="274320"/>
          </a:xfrm>
          <a:prstGeom prst="roundRect">
            <a:avLst>
              <a:gd name="adj" fmla="val 40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79007" y="3364992"/>
            <a:ext cx="752514" cy="274320"/>
          </a:xfrm>
          <a:prstGeom prst="roundRect">
            <a:avLst>
              <a:gd name="adj" fmla="val 4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7999" y="3182112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76.2%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895344"/>
            <a:ext cx="6949439" cy="640080"/>
          </a:xfrm>
          <a:prstGeom prst="roundRect">
            <a:avLst>
              <a:gd name="adj" fmla="val 1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895344"/>
            <a:ext cx="22238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+ ResNet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6780" y="3895344"/>
            <a:ext cx="2640786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幅值 + 相位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79007" y="4078224"/>
            <a:ext cx="987551" cy="274320"/>
          </a:xfrm>
          <a:prstGeom prst="roundRect">
            <a:avLst>
              <a:gd name="adj" fmla="val 40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79007" y="4078224"/>
            <a:ext cx="783128" cy="274320"/>
          </a:xfrm>
          <a:prstGeom prst="roundRect">
            <a:avLst>
              <a:gd name="adj" fmla="val 40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7999" y="3895344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2B0B9"/>
                </a:solidFill>
                <a:latin typeface="Calibri"/>
                <a:eastAsia typeface="Calibri"/>
                <a:cs typeface="Calibri"/>
                <a:ascii typeface="Calibri"/>
              </a:rPr>
              <a:t>79.3%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608576"/>
            <a:ext cx="694943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608576"/>
            <a:ext cx="22238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+ CNN + RNN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6780" y="4608576"/>
            <a:ext cx="2640786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 + STFT 谱图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79007" y="4791456"/>
            <a:ext cx="987551" cy="274320"/>
          </a:xfrm>
          <a:prstGeom prst="roundRect">
            <a:avLst>
              <a:gd name="adj" fmla="val 40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79007" y="4791456"/>
            <a:ext cx="797941" cy="274320"/>
          </a:xfrm>
          <a:prstGeom prst="roundRect">
            <a:avLst>
              <a:gd name="adj" fmla="val 4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7999" y="4608576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FB703"/>
                </a:solidFill>
                <a:latin typeface="Calibri"/>
                <a:eastAsia typeface="Calibri"/>
                <a:cs typeface="Calibri"/>
                <a:ascii typeface="Calibri"/>
              </a:rPr>
              <a:t>80.8%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321808"/>
            <a:ext cx="6949439" cy="640080"/>
          </a:xfrm>
          <a:prstGeom prst="roundRect">
            <a:avLst>
              <a:gd name="adj" fmla="val 1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321808"/>
            <a:ext cx="22238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+ ResNet + RNN  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6780" y="5321808"/>
            <a:ext cx="2640786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 + STFT 谱图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79007" y="5504688"/>
            <a:ext cx="987551" cy="274320"/>
          </a:xfrm>
          <a:prstGeom prst="roundRect">
            <a:avLst>
              <a:gd name="adj" fmla="val 40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79007" y="5504688"/>
            <a:ext cx="902622" cy="274320"/>
          </a:xfrm>
          <a:prstGeom prst="roundRect">
            <a:avLst>
              <a:gd name="adj" fmla="val 40000"/>
            </a:avLst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7999" y="5321808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EF556B"/>
                </a:solidFill>
                <a:latin typeface="Calibri"/>
                <a:eastAsia typeface="Calibri"/>
                <a:cs typeface="Calibri"/>
                <a:ascii typeface="Calibri"/>
              </a:rPr>
              <a:t>91.4%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1554480"/>
            <a:ext cx="3977639" cy="493776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109959" y="1737360"/>
            <a:ext cx="914400" cy="914400"/>
          </a:xfrm>
          <a:prstGeom prst="ellipse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27079" y="2103120"/>
            <a:ext cx="548640" cy="54864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1874520"/>
            <a:ext cx="3337559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KEY  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2286000"/>
            <a:ext cx="3337559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4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91.4%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3566160"/>
            <a:ext cx="3337559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STFT+ResNet+RNN 融合模型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114800"/>
            <a:ext cx="3337559" cy="21945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</a:pPr>
            <a:r>
              <a:rPr sz="1300" b="0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• 较单一时域 RNN 提升 +20.4 pp
• 较 STFT+ResNet 提升 +12.1 pp
• 较 STFT+CNN+RNN 提升 +10.6 pp
• 在所有对比模型中表现最佳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混淆矩阵分析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05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研究结果与应用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47488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融合模型混淆矩阵样本集中在对角线，多数类别正确判别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852160" cy="50292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303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图 4-5  STFT + ResNet + RNN 融合模型混淆矩阵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240280"/>
            <a:ext cx="514350" cy="402590"/>
          </a:xfrm>
          <a:prstGeom prst="rect">
            <a:avLst/>
          </a:prstGeom>
          <a:solidFill>
            <a:srgbClr val="3E81C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240280"/>
            <a:ext cx="50800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6760" y="2240280"/>
            <a:ext cx="514350" cy="402590"/>
          </a:xfrm>
          <a:prstGeom prst="rect">
            <a:avLst/>
          </a:prstGeom>
          <a:solidFill>
            <a:srgbClr val="EAF1F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24760" y="224028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32760" y="224028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0760" y="2240280"/>
            <a:ext cx="514350" cy="402590"/>
          </a:xfrm>
          <a:prstGeom prst="rect">
            <a:avLst/>
          </a:prstGeom>
          <a:solidFill>
            <a:srgbClr val="F1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8760" y="2240280"/>
            <a:ext cx="514350" cy="402590"/>
          </a:xfrm>
          <a:prstGeom prst="rect">
            <a:avLst/>
          </a:prstGeom>
          <a:solidFill>
            <a:srgbClr val="F1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6760" y="2240280"/>
            <a:ext cx="514350" cy="402590"/>
          </a:xfrm>
          <a:prstGeom prst="rect">
            <a:avLst/>
          </a:prstGeom>
          <a:solidFill>
            <a:srgbClr val="F3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64760" y="2240280"/>
            <a:ext cx="514350" cy="402590"/>
          </a:xfrm>
          <a:prstGeom prst="rect">
            <a:avLst/>
          </a:prstGeom>
          <a:solidFill>
            <a:srgbClr val="F1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2760" y="2240280"/>
            <a:ext cx="514350" cy="402590"/>
          </a:xfrm>
          <a:prstGeom prst="rect">
            <a:avLst/>
          </a:prstGeom>
          <a:solidFill>
            <a:srgbClr val="F1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08760" y="2636520"/>
            <a:ext cx="514350" cy="402590"/>
          </a:xfrm>
          <a:prstGeom prst="rect">
            <a:avLst/>
          </a:prstGeom>
          <a:solidFill>
            <a:srgbClr val="E7EFF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6760" y="2636520"/>
            <a:ext cx="514350" cy="402590"/>
          </a:xfrm>
          <a:prstGeom prst="rect">
            <a:avLst/>
          </a:prstGeom>
          <a:solidFill>
            <a:srgbClr val="4686C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6760" y="2636520"/>
            <a:ext cx="50800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24760" y="2636520"/>
            <a:ext cx="514350" cy="402590"/>
          </a:xfrm>
          <a:prstGeom prst="rect">
            <a:avLst/>
          </a:prstGeom>
          <a:solidFill>
            <a:srgbClr val="EDF3F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32760" y="263652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40760" y="2636520"/>
            <a:ext cx="514350" cy="402590"/>
          </a:xfrm>
          <a:prstGeom prst="rect">
            <a:avLst/>
          </a:prstGeom>
          <a:solidFill>
            <a:srgbClr val="F0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48760" y="2636520"/>
            <a:ext cx="514350" cy="402590"/>
          </a:xfrm>
          <a:prstGeom prst="rect">
            <a:avLst/>
          </a:prstGeom>
          <a:solidFill>
            <a:srgbClr val="F0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56760" y="263652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4760" y="263652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72760" y="263652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08760" y="3032760"/>
            <a:ext cx="514350" cy="402590"/>
          </a:xfrm>
          <a:prstGeom prst="rect">
            <a:avLst/>
          </a:prstGeom>
          <a:solidFill>
            <a:srgbClr val="F1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16760" y="3032760"/>
            <a:ext cx="514350" cy="402590"/>
          </a:xfrm>
          <a:prstGeom prst="rect">
            <a:avLst/>
          </a:prstGeom>
          <a:solidFill>
            <a:srgbClr val="E9F0F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24760" y="3032760"/>
            <a:ext cx="514350" cy="402590"/>
          </a:xfrm>
          <a:prstGeom prst="rect">
            <a:avLst/>
          </a:prstGeom>
          <a:solidFill>
            <a:srgbClr val="4585C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24760" y="3032760"/>
            <a:ext cx="50800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87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32760" y="303276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40760" y="3032760"/>
            <a:ext cx="514350" cy="402590"/>
          </a:xfrm>
          <a:prstGeom prst="rect">
            <a:avLst/>
          </a:prstGeom>
          <a:solidFill>
            <a:srgbClr val="F1F5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48760" y="303276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56760" y="3032760"/>
            <a:ext cx="514350" cy="402590"/>
          </a:xfrm>
          <a:prstGeom prst="rect">
            <a:avLst/>
          </a:prstGeom>
          <a:solidFill>
            <a:srgbClr val="F3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64760" y="3032760"/>
            <a:ext cx="514350" cy="402590"/>
          </a:xfrm>
          <a:prstGeom prst="rect">
            <a:avLst/>
          </a:prstGeom>
          <a:solidFill>
            <a:srgbClr val="F3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2760" y="303276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08760" y="342900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16760" y="342900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24760" y="342900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32760" y="3429000"/>
            <a:ext cx="514350" cy="402590"/>
          </a:xfrm>
          <a:prstGeom prst="rect">
            <a:avLst/>
          </a:prstGeom>
          <a:solidFill>
            <a:srgbClr val="3C80C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32760" y="3429000"/>
            <a:ext cx="50800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92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0760" y="3429000"/>
            <a:ext cx="514350" cy="402590"/>
          </a:xfrm>
          <a:prstGeom prst="rect">
            <a:avLst/>
          </a:prstGeom>
          <a:solidFill>
            <a:srgbClr val="E9F0F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48760" y="342900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56760" y="3429000"/>
            <a:ext cx="514350" cy="402590"/>
          </a:xfrm>
          <a:prstGeom prst="rect">
            <a:avLst/>
          </a:prstGeom>
          <a:solidFill>
            <a:srgbClr val="F1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64760" y="342900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72760" y="3429000"/>
            <a:ext cx="514350" cy="402590"/>
          </a:xfrm>
          <a:prstGeom prst="rect">
            <a:avLst/>
          </a:prstGeom>
          <a:solidFill>
            <a:srgbClr val="F3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08760" y="382524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16760" y="382524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24760" y="382524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32760" y="3825240"/>
            <a:ext cx="514350" cy="402590"/>
          </a:xfrm>
          <a:prstGeom prst="rect">
            <a:avLst/>
          </a:prstGeom>
          <a:solidFill>
            <a:srgbClr val="E8EFF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40760" y="3825240"/>
            <a:ext cx="514350" cy="402590"/>
          </a:xfrm>
          <a:prstGeom prst="rect">
            <a:avLst/>
          </a:prstGeom>
          <a:solidFill>
            <a:srgbClr val="4183C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0760" y="3825240"/>
            <a:ext cx="50800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89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48760" y="3825240"/>
            <a:ext cx="514350" cy="402590"/>
          </a:xfrm>
          <a:prstGeom prst="rect">
            <a:avLst/>
          </a:prstGeom>
          <a:solidFill>
            <a:srgbClr val="EEF3F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56760" y="3825240"/>
            <a:ext cx="514350" cy="402590"/>
          </a:xfrm>
          <a:prstGeom prst="rect">
            <a:avLst/>
          </a:prstGeom>
          <a:solidFill>
            <a:srgbClr val="F3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4760" y="382524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72760" y="3825240"/>
            <a:ext cx="514350" cy="402590"/>
          </a:xfrm>
          <a:prstGeom prst="rect">
            <a:avLst/>
          </a:prstGeom>
          <a:solidFill>
            <a:srgbClr val="F0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508760" y="422148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016760" y="422148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24760" y="422148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32760" y="422148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40760" y="4221480"/>
            <a:ext cx="514350" cy="402590"/>
          </a:xfrm>
          <a:prstGeom prst="rect">
            <a:avLst/>
          </a:prstGeom>
          <a:solidFill>
            <a:srgbClr val="E6EEF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048760" y="4221480"/>
            <a:ext cx="514350" cy="402590"/>
          </a:xfrm>
          <a:prstGeom prst="rect">
            <a:avLst/>
          </a:prstGeom>
          <a:solidFill>
            <a:srgbClr val="4888C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48760" y="4221480"/>
            <a:ext cx="50800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86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56760" y="4221480"/>
            <a:ext cx="514350" cy="402590"/>
          </a:xfrm>
          <a:prstGeom prst="rect">
            <a:avLst/>
          </a:prstGeom>
          <a:solidFill>
            <a:srgbClr val="F3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64760" y="422148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72760" y="422148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08760" y="461772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016760" y="461772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524760" y="461772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032760" y="4617720"/>
            <a:ext cx="514350" cy="402590"/>
          </a:xfrm>
          <a:prstGeom prst="rect">
            <a:avLst/>
          </a:prstGeom>
          <a:solidFill>
            <a:srgbClr val="F1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40760" y="4617720"/>
            <a:ext cx="514350" cy="402590"/>
          </a:xfrm>
          <a:prstGeom prst="rect">
            <a:avLst/>
          </a:prstGeom>
          <a:solidFill>
            <a:srgbClr val="F0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048760" y="4617720"/>
            <a:ext cx="514350" cy="402590"/>
          </a:xfrm>
          <a:prstGeom prst="rect">
            <a:avLst/>
          </a:prstGeom>
          <a:solidFill>
            <a:srgbClr val="F3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56760" y="4617720"/>
            <a:ext cx="514350" cy="402590"/>
          </a:xfrm>
          <a:prstGeom prst="rect">
            <a:avLst/>
          </a:prstGeom>
          <a:solidFill>
            <a:srgbClr val="4686C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56760" y="4617720"/>
            <a:ext cx="50800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87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64760" y="4617720"/>
            <a:ext cx="514350" cy="402590"/>
          </a:xfrm>
          <a:prstGeom prst="rect">
            <a:avLst/>
          </a:prstGeom>
          <a:solidFill>
            <a:srgbClr val="F3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572760" y="4617720"/>
            <a:ext cx="514350" cy="402590"/>
          </a:xfrm>
          <a:prstGeom prst="rect">
            <a:avLst/>
          </a:prstGeom>
          <a:solidFill>
            <a:srgbClr val="EF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508760" y="5013960"/>
            <a:ext cx="514350" cy="402590"/>
          </a:xfrm>
          <a:prstGeom prst="rect">
            <a:avLst/>
          </a:prstGeom>
          <a:solidFill>
            <a:srgbClr val="F0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016760" y="501396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24760" y="5013960"/>
            <a:ext cx="514350" cy="402590"/>
          </a:xfrm>
          <a:prstGeom prst="rect">
            <a:avLst/>
          </a:prstGeom>
          <a:solidFill>
            <a:srgbClr val="F3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32760" y="501396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40760" y="501396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048760" y="5013960"/>
            <a:ext cx="514350" cy="402590"/>
          </a:xfrm>
          <a:prstGeom prst="rect">
            <a:avLst/>
          </a:prstGeom>
          <a:solidFill>
            <a:srgbClr val="F0F4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556760" y="5013960"/>
            <a:ext cx="514350" cy="402590"/>
          </a:xfrm>
          <a:prstGeom prst="rect">
            <a:avLst/>
          </a:prstGeom>
          <a:solidFill>
            <a:srgbClr val="F3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064760" y="5013960"/>
            <a:ext cx="514350" cy="402590"/>
          </a:xfrm>
          <a:prstGeom prst="rect">
            <a:avLst/>
          </a:prstGeom>
          <a:solidFill>
            <a:srgbClr val="3B7FC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64760" y="5013960"/>
            <a:ext cx="50800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572760" y="501396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508760" y="5410200"/>
            <a:ext cx="514350" cy="402590"/>
          </a:xfrm>
          <a:prstGeom prst="rect">
            <a:avLst/>
          </a:prstGeom>
          <a:solidFill>
            <a:srgbClr val="F3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016760" y="5410200"/>
            <a:ext cx="514350" cy="402590"/>
          </a:xfrm>
          <a:prstGeom prst="rect">
            <a:avLst/>
          </a:prstGeom>
          <a:solidFill>
            <a:srgbClr val="F0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524760" y="541020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032760" y="5410200"/>
            <a:ext cx="514350" cy="402590"/>
          </a:xfrm>
          <a:prstGeom prst="rect">
            <a:avLst/>
          </a:prstGeom>
          <a:solidFill>
            <a:srgbClr val="F1F5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540760" y="5410200"/>
            <a:ext cx="514350" cy="402590"/>
          </a:xfrm>
          <a:prstGeom prst="rect">
            <a:avLst/>
          </a:prstGeom>
          <a:solidFill>
            <a:srgbClr val="F4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048760" y="5410200"/>
            <a:ext cx="514350" cy="402590"/>
          </a:xfrm>
          <a:prstGeom prst="rect">
            <a:avLst/>
          </a:prstGeom>
          <a:solidFill>
            <a:srgbClr val="F2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556760" y="5410200"/>
            <a:ext cx="514350" cy="402590"/>
          </a:xfrm>
          <a:prstGeom prst="rect">
            <a:avLst/>
          </a:prstGeom>
          <a:solidFill>
            <a:srgbClr val="F3F7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064760" y="5410200"/>
            <a:ext cx="514350" cy="402590"/>
          </a:xfrm>
          <a:prstGeom prst="rect">
            <a:avLst/>
          </a:prstGeom>
          <a:solidFill>
            <a:srgbClr val="F3F6F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572760" y="5410200"/>
            <a:ext cx="514350" cy="402590"/>
          </a:xfrm>
          <a:prstGeom prst="rect">
            <a:avLst/>
          </a:prstGeom>
          <a:solidFill>
            <a:srgbClr val="3179C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72760" y="5410200"/>
            <a:ext cx="50800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97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08760" y="5852160"/>
            <a:ext cx="50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2FSK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1520" y="2240280"/>
            <a:ext cx="73152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2FSK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16760" y="5852160"/>
            <a:ext cx="50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4FSK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1520" y="2636520"/>
            <a:ext cx="73152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4FSK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24760" y="5852160"/>
            <a:ext cx="50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8FSK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1520" y="3032760"/>
            <a:ext cx="73152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8FSK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32760" y="5852160"/>
            <a:ext cx="50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2PSK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1520" y="3429000"/>
            <a:ext cx="73152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2PSK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40760" y="5852160"/>
            <a:ext cx="50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4PSK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1520" y="3825240"/>
            <a:ext cx="73152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4PSK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48760" y="5852160"/>
            <a:ext cx="50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8PSK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520" y="4221480"/>
            <a:ext cx="73152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8PSK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56760" y="5852160"/>
            <a:ext cx="50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16QAM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1520" y="4617720"/>
            <a:ext cx="73152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16QAM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4760" y="5852160"/>
            <a:ext cx="50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64QAM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1520" y="5013960"/>
            <a:ext cx="73152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64QAM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72760" y="5852160"/>
            <a:ext cx="50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64OFDM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1520" y="5410200"/>
            <a:ext cx="731520" cy="396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647488"/>
                </a:solidFill>
                <a:latin typeface="Calibri"/>
                <a:eastAsia typeface="Calibri"/>
                <a:cs typeface="Calibri"/>
                <a:ascii typeface="Calibri"/>
              </a:rPr>
              <a:t>64OFDM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08760" y="6126480"/>
            <a:ext cx="4572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Calibri"/>
                <a:eastAsia typeface="Calibri"/>
                <a:cs typeface="Calibri"/>
                <a:ascii typeface="Calibri"/>
              </a:rPr>
              <a:t>Predicted Label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" y="3749040"/>
            <a:ext cx="8229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B2A5B"/>
                </a:solidFill>
                <a:latin typeface="Calibri"/>
                <a:eastAsia typeface="Calibri"/>
                <a:cs typeface="Calibri"/>
                <a:ascii typeface="Calibri"/>
              </a:rPr>
              <a:t>True
Label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37960" y="1463040"/>
            <a:ext cx="56692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ANALYSIS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37960" y="1828800"/>
            <a:ext cx="566928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混淆模式分析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537960" y="251460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6537960" y="2514600"/>
            <a:ext cx="109728" cy="960120"/>
          </a:xfrm>
          <a:prstGeom prst="roundRect">
            <a:avLst>
              <a:gd name="adj" fmla="val 4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812280" y="2606040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单一时域 RNN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12280" y="2971800"/>
            <a:ext cx="521208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部分调制类别波形变化相近，分类边界不清晰，PSK / QAM 之间易出现混淆。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537960" y="361188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6537960" y="3611880"/>
            <a:ext cx="109728" cy="960120"/>
          </a:xfrm>
          <a:prstGeom prst="roundRect">
            <a:avLst>
              <a:gd name="adj" fmla="val 4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812280" y="3703320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单一 STFT 模型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12280" y="4069080"/>
            <a:ext cx="521208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FSK 类频带分布差异明显，识别效果较好；高阶调制 (64QAM / 64OFDM) 仍会出现少量混淆。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537960" y="470916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6537960" y="4709160"/>
            <a:ext cx="109728" cy="960120"/>
          </a:xfrm>
          <a:prstGeom prst="roundRect">
            <a:avLst>
              <a:gd name="adj" fmla="val 40000"/>
            </a:avLst>
          </a:prstGeom>
          <a:solidFill>
            <a:srgbClr val="EF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812280" y="4800600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STFT + ResNet + RNN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12280" y="5166360"/>
            <a:ext cx="521208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对角线显著主导，多数类别集中在正确标签；互补特征显著降低跨类误判。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537960" y="580644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6537960" y="5806440"/>
            <a:ext cx="109728" cy="960120"/>
          </a:xfrm>
          <a:prstGeom prst="roundRect">
            <a:avLst>
              <a:gd name="adj" fmla="val 4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12280" y="5897880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结论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6263640"/>
            <a:ext cx="521208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时域动态特征与时频纹理特征在不同类别间互补，对类内细节差异较小的调制类别尤其有效。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低信噪比性能讨论与应用价值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05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研究结果与应用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6858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LOW  SNR 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68580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融合模型在强噪声条件下更具韧性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6858000" cy="5212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▶  时域分支的作用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建模长时序列变化规律，对 PSK / OFDM 类相位演替敏感；强噪声下若波形被破坏，仍可借助谱图分支提供判别依据。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▶  谱图分支的作用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ResNet 提取频带分布、谱线变化与时频纹理；对 FSK 类频率变化型调制更具优势。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▶  互补机制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当噪声扰动某一支特征时，另一分支仍可保留可分性；拼接融合后整体表现更稳定，识别率曲线更平缓。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▶  适用边界说明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AWGN 模型可控可重复，但真实水声噪声具有非平稳、频率相关与突发性特点，需结合海试数据进一步验证。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143000"/>
            <a:ext cx="4526280" cy="534924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417320"/>
            <a:ext cx="3977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APPLICATION 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1783080"/>
            <a:ext cx="397764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应用场景与价值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514600"/>
            <a:ext cx="109728" cy="868680"/>
          </a:xfrm>
          <a:prstGeom prst="roundRect">
            <a:avLst>
              <a:gd name="adj" fmla="val 4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514600"/>
            <a:ext cx="3749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SCENARIO  01  ·  海洋监测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880360"/>
            <a:ext cx="374904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对水声频谱进行调制识别，为水域监测与海洋安全提供基础感知能力。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474720"/>
            <a:ext cx="109728" cy="868680"/>
          </a:xfrm>
          <a:prstGeom prst="roundRect">
            <a:avLst>
              <a:gd name="adj" fmla="val 40000"/>
            </a:avLst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3474720"/>
            <a:ext cx="3749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SCENARIO  02  ·  目标探测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840480"/>
            <a:ext cx="374904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结合不同调制方式特征，辅助判断辐射源类型与状态。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4434840"/>
            <a:ext cx="109728" cy="868680"/>
          </a:xfrm>
          <a:prstGeom prst="roundRect">
            <a:avLst>
              <a:gd name="adj" fmla="val 40000"/>
            </a:avLst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434840"/>
            <a:ext cx="3749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SCENARIO  03  ·  水下通信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800600"/>
            <a:ext cx="374904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为非合作信号分析与解调前置识别提供方案。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5394960"/>
            <a:ext cx="109728" cy="868680"/>
          </a:xfrm>
          <a:prstGeom prst="roundRect">
            <a:avLst>
              <a:gd name="adj" fmla="val 40000"/>
            </a:avLst>
          </a:prstGeom>
          <a:solidFill>
            <a:srgbClr val="12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5394960"/>
            <a:ext cx="3749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SCENARIO  04  ·  教学与原型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5760720"/>
            <a:ext cx="374904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低成本、易复现的端侧识别原型，可用于课程教学与方法验证。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-914400"/>
            <a:ext cx="164592" cy="822960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57200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926080"/>
            <a:ext cx="164592" cy="118872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834640"/>
            <a:ext cx="640080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总结与展望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703320"/>
            <a:ext cx="6400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Conclusion &amp; 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6217920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—  THESIS  DEFENSE  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109728" cy="38404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7724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论文总结与未来展望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PART 06  ·  </a:t>
            </a:r>
            <a:r>
              <a:rPr sz="11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总结与展望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51615" cy="9525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8521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E4D92"/>
                </a:solidFill>
                <a:latin typeface="Calibri"/>
                <a:eastAsia typeface="Calibri"/>
                <a:cs typeface="Calibri"/>
                <a:ascii typeface="Calibri"/>
              </a:rPr>
              <a:t>THESIS 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8521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论文工作总结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852160" cy="5212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E4D92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▣  数据与特征</a:t>
            </a:r>
          </a:p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完成 9 类水声调制信号的预处理与统一长度划分，构建时域 + STFT 双通道时频特征。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▣  模型设计</a:t>
            </a:r>
          </a:p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提出 Bi-LSTM × ResNet-18 融合网络，特征层拼接 + 全连接分类，整体准确率达 91.4%。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▣  鲁棒性评估</a:t>
            </a:r>
          </a:p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在 −10 ~ 10 dB AWGN 条件下对比五种方案，融合模型表现最稳定，验证特征互补性。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12B0B9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▣  端侧部署</a:t>
            </a:r>
          </a:p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2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      PyTorch → ONNX → 树莓派 ONNX Runtime，结合 Tk UI 完成从信号到识别的端侧闭环。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143000"/>
            <a:ext cx="54864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EF556B"/>
                </a:solidFill>
                <a:latin typeface="Calibri"/>
                <a:eastAsia typeface="Calibri"/>
                <a:cs typeface="Calibri"/>
                <a:ascii typeface="Calibri"/>
              </a:rPr>
              <a:t>FUTURE 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5486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未来工作展望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1488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377440"/>
            <a:ext cx="777240" cy="777240"/>
          </a:xfrm>
          <a:prstGeom prst="ellipse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377440"/>
            <a:ext cx="777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331720"/>
            <a:ext cx="420624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更真实的水声信道与噪声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743200"/>
            <a:ext cx="420624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引入更接近真实环境的水声信道仿真模型，结合非平稳、频率相关与突发性噪声以及海试数据进行验证。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70332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3720" y="3931920"/>
            <a:ext cx="777240" cy="777240"/>
          </a:xfrm>
          <a:prstGeom prst="ellipse">
            <a:avLst/>
          </a:prstGeom>
          <a:solidFill>
            <a:srgbClr val="1D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931920"/>
            <a:ext cx="777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886200"/>
            <a:ext cx="420624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扩大数据集与跨场景泛化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297680"/>
            <a:ext cx="420624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扩充不同信道条件、采样设备与海况下的数据；引入领域自适应 / 迁移学习，提升跨场景识别能力。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525780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5486400"/>
            <a:ext cx="777240" cy="77724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5486400"/>
            <a:ext cx="777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stAsia typeface="Calibri"/>
                <a:cs typeface="Calibri"/>
                <a:ascii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5440680"/>
            <a:ext cx="420624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融合物理意义特征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852160"/>
            <a:ext cx="420624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>
                <a:solidFill>
                  <a:srgbClr val="141E33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进一步引入循环谱、瞬时频率、高阶累积量、子空间特征等具有物理意义的特征，提高可解释性。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65392"/>
            <a:ext cx="64008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|  陈杰  ·  指导老师：苏为 教授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65392"/>
            <a:ext cx="100584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1D7AC4"/>
                </a:solidFill>
                <a:latin typeface="Calibri"/>
                <a:eastAsia typeface="Calibri"/>
                <a:cs typeface="Calibri"/>
                <a:ascii typeface="Calibri"/>
              </a:rPr>
              <a:t>THESIS  DEFENSE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1645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7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谢   谢   聆   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4327" y="3383280"/>
            <a:ext cx="1463040" cy="3810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109441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2EA8E0"/>
                </a:solidFill>
                <a:latin typeface="Calibri"/>
                <a:eastAsia typeface="Calibri"/>
                <a:cs typeface="Calibri"/>
                <a:ascii typeface="Calibri"/>
              </a:rPr>
              <a:t>THANK  YOU  FOR  YOUR 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1109441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1D7AC4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敬请各位老师批评指正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2590723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答辩人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2590723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陈   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8773" y="5897880"/>
            <a:ext cx="12700" cy="50292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5123" y="5760720"/>
            <a:ext cx="2590723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学  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23" y="6035040"/>
            <a:ext cx="2590723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37120222203280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497" y="5897880"/>
            <a:ext cx="12700" cy="50292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5760720"/>
            <a:ext cx="2590723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专  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6035040"/>
            <a:ext cx="2590723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通信工程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0221" y="5897880"/>
            <a:ext cx="12700" cy="50292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571" y="5760720"/>
            <a:ext cx="2590723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2EA8E0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指导老师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571" y="6035040"/>
            <a:ext cx="2590723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苏 为 教授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</a:rPr>
              <a:t>基于树莓派的水声信号制式识别  ·  厦门大学 信息学院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